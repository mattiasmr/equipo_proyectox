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533afa3dcf43ea" /><Relationship Type="http://schemas.openxmlformats.org/officeDocument/2006/relationships/extended-properties" Target="/docProps/app.xml" Id="R38e86257ede14b6c" /><Relationship Type="http://schemas.openxmlformats.org/officeDocument/2006/relationships/officeDocument" Target="/ppt/presentation.xml" Id="Rf02fdd7479fd43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d181a6e8f74613"/>
  </p:sldMasterIdLst>
  <p:notesMasterIdLst>
    <p:notesMasterId xmlns:r="http://schemas.openxmlformats.org/officeDocument/2006/relationships" r:id="R6587fabbf18e4976"/>
  </p:notesMasterIdLst>
  <p:sldIdLst>
    <p:sldId xmlns:r="http://schemas.openxmlformats.org/officeDocument/2006/relationships" id="256" r:id="R68d79d6426694dbb"/>
    <p:sldId xmlns:r="http://schemas.openxmlformats.org/officeDocument/2006/relationships" id="257" r:id="Rd44ecd5581734b23"/>
    <p:sldId xmlns:r="http://schemas.openxmlformats.org/officeDocument/2006/relationships" id="258" r:id="R10582a5e4ebf4e81"/>
    <p:sldId xmlns:r="http://schemas.openxmlformats.org/officeDocument/2006/relationships" id="259" r:id="Rc2796f9d658d414c"/>
    <p:sldId xmlns:r="http://schemas.openxmlformats.org/officeDocument/2006/relationships" id="260" r:id="R42889cd7a88d4568"/>
    <p:sldId xmlns:r="http://schemas.openxmlformats.org/officeDocument/2006/relationships" id="261" r:id="Rbd7d5123683b4e0e"/>
    <p:sldId xmlns:r="http://schemas.openxmlformats.org/officeDocument/2006/relationships" id="262" r:id="R0709e0e647054d4b"/>
    <p:sldId xmlns:r="http://schemas.openxmlformats.org/officeDocument/2006/relationships" id="263" r:id="Rd669040b5e9243c2"/>
    <p:sldId xmlns:r="http://schemas.openxmlformats.org/officeDocument/2006/relationships" id="264" r:id="Rd272eefae3c34df4"/>
    <p:sldId xmlns:r="http://schemas.openxmlformats.org/officeDocument/2006/relationships" id="265" r:id="R14ca605bf97c477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6f65e606034714" /><Relationship Type="http://schemas.openxmlformats.org/officeDocument/2006/relationships/slideMaster" Target="/ppt/slideMasters/slideMaster1.xml" Id="R49d181a6e8f74613" /><Relationship Type="http://schemas.openxmlformats.org/officeDocument/2006/relationships/notesMaster" Target="/ppt/notesMasters/notesMaster1.xml" Id="R6587fabbf18e4976" /><Relationship Type="http://schemas.openxmlformats.org/officeDocument/2006/relationships/presProps" Target="/ppt/presProps.xml" Id="Re8da5975333e45d0" /><Relationship Type="http://schemas.openxmlformats.org/officeDocument/2006/relationships/tableStyles" Target="/ppt/tableStyles.xml" Id="R5cf8b5b929f7497e" /><Relationship Type="http://schemas.openxmlformats.org/officeDocument/2006/relationships/slide" Target="/ppt/slides/slide1.xml" Id="R68d79d6426694dbb" /><Relationship Type="http://schemas.openxmlformats.org/officeDocument/2006/relationships/slide" Target="/ppt/slides/slide2.xml" Id="Rd44ecd5581734b23" /><Relationship Type="http://schemas.openxmlformats.org/officeDocument/2006/relationships/slide" Target="/ppt/slides/slide3.xml" Id="R10582a5e4ebf4e81" /><Relationship Type="http://schemas.openxmlformats.org/officeDocument/2006/relationships/slide" Target="/ppt/slides/slide4.xml" Id="Rc2796f9d658d414c" /><Relationship Type="http://schemas.openxmlformats.org/officeDocument/2006/relationships/slide" Target="/ppt/slides/slide5.xml" Id="R42889cd7a88d4568" /><Relationship Type="http://schemas.openxmlformats.org/officeDocument/2006/relationships/slide" Target="/ppt/slides/slide6.xml" Id="Rbd7d5123683b4e0e" /><Relationship Type="http://schemas.openxmlformats.org/officeDocument/2006/relationships/slide" Target="/ppt/slides/slide7.xml" Id="R0709e0e647054d4b" /><Relationship Type="http://schemas.openxmlformats.org/officeDocument/2006/relationships/slide" Target="/ppt/slides/slide8.xml" Id="Rd669040b5e9243c2" /><Relationship Type="http://schemas.openxmlformats.org/officeDocument/2006/relationships/slide" Target="/ppt/slides/slide9.xml" Id="Rd272eefae3c34df4" /><Relationship Type="http://schemas.openxmlformats.org/officeDocument/2006/relationships/slide" Target="/ppt/slides/slide10.xml" Id="R14ca605bf97c47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8b8497e49440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e8eb66ad994e3d" /><Relationship Type="http://schemas.openxmlformats.org/officeDocument/2006/relationships/notesMaster" Target="/ppt/notesMasters/notesMaster1.xml" Id="Rc636b060022644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36a6466a0f4d1e" /><Relationship Type="http://schemas.openxmlformats.org/officeDocument/2006/relationships/notesMaster" Target="/ppt/notesMasters/notesMaster1.xml" Id="R383ec90d5ca448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6646a4a5c449f0" /><Relationship Type="http://schemas.openxmlformats.org/officeDocument/2006/relationships/notesMaster" Target="/ppt/notesMasters/notesMaster1.xml" Id="Re5aaf4f399584c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29de71481f4506" /><Relationship Type="http://schemas.openxmlformats.org/officeDocument/2006/relationships/notesMaster" Target="/ppt/notesMasters/notesMaster1.xml" Id="R616f978a362348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7e813920c54769" /><Relationship Type="http://schemas.openxmlformats.org/officeDocument/2006/relationships/notesMaster" Target="/ppt/notesMasters/notesMaster1.xml" Id="Rc2acf52d828b40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7803729e694c44" /><Relationship Type="http://schemas.openxmlformats.org/officeDocument/2006/relationships/notesMaster" Target="/ppt/notesMasters/notesMaster1.xml" Id="R166dd68a116843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f08794e43b4056" /><Relationship Type="http://schemas.openxmlformats.org/officeDocument/2006/relationships/notesMaster" Target="/ppt/notesMasters/notesMaster1.xml" Id="Rc9cb7424d2f045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8233f8cddb14fa6" /><Relationship Type="http://schemas.openxmlformats.org/officeDocument/2006/relationships/notesMaster" Target="/ppt/notesMasters/notesMaster1.xml" Id="R8045f03e4b1c4f8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ed93aa165ab4953" /><Relationship Type="http://schemas.openxmlformats.org/officeDocument/2006/relationships/notesMaster" Target="/ppt/notesMasters/notesMaster1.xml" Id="R09c68a8ad3f84ab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1d8984cb2294b30" /><Relationship Type="http://schemas.openxmlformats.org/officeDocument/2006/relationships/notesMaster" Target="/ppt/notesMasters/notesMaster1.xml" Id="R9cc2a9f43ff144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[Mattias · 0:00–0:18] Un turno cambia. Tu semana no debería colapsar. Somos Ritmo: una herramienta para estudiantes que trabajan y necesitan reparar su planificación cuando el trabajo cambia sin aviso.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[Mattias · 0:18–0:50] Partimos por un segmento concreto: estudiantes de educación superior que trabajan entre quince y treinta horas semanales con turnos variables. En siete registros de entrevista se repitió el mismo episodio: un cambio se avisa durante el turno y el plan académico deja de ser viable. El costo no es sólo desorden. Es perder sueño, faltar a clases o llegar peor preparado a una evaluación.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Repositorio del proyecto: 01_Discovery/E2_Plantilla4_Sintesis_Evidencia_2026-08-02.md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[Ariel · 0:50–1:25] La solución no intenta adivinar toda la vida del usuario. Hace una tarea concreta en tres pasos: registra el cambio laboral, prioriza por plazo y capacidad, y deja al usuario confirmar una propuesta. El MVP v0.2 ya ejecuta ese flujo sobre una semana realista y muestra por qué una tarea se mueve. La promesa es recuperar un plan viable en menos de tres minutos.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Repositorio del proyecto: 03_MVP_Experimentos/MVP_v0.2/index.html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[Ariel · 1:25–1:55] Probamos una tarea: incorporar una extensión de tres horas y conservar un bloque de estudio antes de la prueba. Cinco de cinco completaron; cuatro lo hicieron sin ayuda; tres, además, en menos de tres minutos. Eso equivale al sesenta por ciento, exactamente el umbral. No lo llamamos tracción comercial: es evidencia conductual temprana. Aprendimos que debemos hacer visible el porqué de cada cambio.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Repositorio del proyecto: 03_MVP_Experimentos/E2_Plantilla6Z_Log_Evidencia_2026-08-02.md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[Francisco · 1:55–2:23] Construimos el mercado desde abajo. En Chile hay un millón trescientos setenta y dos mil estudiantes de pregrado. A un precio anual de treinta y cinco mil ochocientos ochenta pesos, ese es un TAM de cuarenta y nueve mil doscientos millones. Para el SAM usamos una hipótesis conservadora: veinticinco por ciento con trabajo y turnos variables. El SOM a tres años es captar uno por ciento de ese grupo: tres mil cuatrocientos treinta usuarios.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https://educacionsuperior.mineduc.cl/2026/07/30/matricula-en-educacion-superior-crece-por-quinto-ano-consecutivo/</a:t>
            </a:r>
          </a:p>
          <a:p xmlns:a="http://schemas.openxmlformats.org/drawingml/2006/main">
            <a:r>
              <a:t>- https://educacionsuperior.mineduc.cl/wp-content/uploads/sites/49/2026/07/Informe-de-Matricula-2026.pdf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[Francisco · 2:23–2:55] El modelo parte freemium. La versión gratuita permite tres replanificaciones al mes; Ritmo Plus cuesta dos mil novecientos noventa pesos e incorpora uso ilimitado, explicación e integración con calendario. Los unit economics todavía son objetivos, no resultados: margen bruto de ochenta y cinco por ciento, CAC de ocho mil pesos y churn mensual de ocho por ciento producen un LTV bruto de treinta y un mil setecientos sesenta y nueve pesos, cuatro veces el CAC.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Repositorio del proyecto: 02_Modelo/E2_Plantilla7_LeanCanvas_v2_2026-08-02.md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[Carlos · 2:55–3:25] El mapa usa dos criterios del cliente: cuánto entiende la herramienta la vida estudio-trabajo y cuánto reacciona cuando algo cambia. Calendarios y planners registran; Motion replanifica, pero está pensado para profesionales y cobra diecinueve dólares mensuales. MyStudyLife entiende lo académico, pero no el conflicto laboral. Ritmo ocupa el cuadrante especializado y reactivo. Ahora es viable por la escala del segmento, las APIs de calendario y el menor costo de priorizar y explicar con 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https://www.usemotion.com/</a:t>
            </a:r>
          </a:p>
          <a:p xmlns:a="http://schemas.openxmlformats.org/drawingml/2006/main">
            <a:r>
              <a:t>- https://www-dev.usemotion.com/pricing</a:t>
            </a:r>
          </a:p>
          <a:p xmlns:a="http://schemas.openxmlformats.org/drawingml/2006/main">
            <a:r>
              <a:t>- https://mystudylife.com/tour/</a:t>
            </a:r>
          </a:p>
          <a:p xmlns:a="http://schemas.openxmlformats.org/drawingml/2006/main">
            <a:r>
              <a:t>- https://educacionsuperior.mineduc.cl/2026/07/30/matricula-en-educacion-superior-crece-por-quinto-ano-consecutivo/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[Equipo · 3:25–3:53] Mattias: Yo lidero producto y research, manteniendo el foco en el episodio real. Ariel: Yo conduzco discovery y alianzas para convertir entrevistas en pilotos. Francisco: Yo valido pricing, canales y economía por usuario. Carlos: Yo llevo tecnología y experimentos, transformando hipótesis en flujos medibles. Nuestro fit no es un CV: es haber recorrido juntos el problema, la evidencia y el MVP.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[Mattias + Francisco · 3:53–4:35] Mattias: En los primeros tres meses refinamos el producto y corremos un piloto de treinta estudiantes. Luego integramos calendario y buscamos cien usuarios activos. Francisco: Entre los meses siete y doce probamos pago con cien usuarios y dos instituciones. A dieciocho meses, el hito es mil usuarios activos, treinta por ciento de retención en semana ocho y dos pilotos institucionales. Pedimos veinticinco millones de pesos para producto, pilotos, infraestructura y operación, además de dos instituciones dispuestas a abrir pilotos de cien estudiantes.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[Carlos + equipo · 4:35–5:00] Carlos: Ritmo convierte un cambio inesperado en una decisión posible, antes de que se transforme en una mala nota o una noche sin dormir. Que cambie el turno, no el futuro. Equipo: Buscamos dos instituciones para un piloto de cien estudiantes durante ocho semanas. Agendemos una reunión de treinta minutos la próxima semana para definir el primer grupo.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a91840296543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5aef48c9984e11" /><Relationship Type="http://schemas.openxmlformats.org/officeDocument/2006/relationships/slideLayout" Target="/ppt/slideLayouts/slideLayout1.xml" Id="R2449d1c0bfcf4b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49d1c0bfcf4b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9e61e4749b489a" /><Relationship Type="http://schemas.openxmlformats.org/officeDocument/2006/relationships/notesSlide" Target="/ppt/notesSlides/notesSlide1.xml" Id="Ree1f2becc6dc40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80692f9dc54b56" /><Relationship Type="http://schemas.openxmlformats.org/officeDocument/2006/relationships/notesSlide" Target="/ppt/notesSlides/notesSlide2.xml" Id="R8c91e8d0f5d84d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ecc9a3f2484f56" /><Relationship Type="http://schemas.openxmlformats.org/officeDocument/2006/relationships/notesSlide" Target="/ppt/notesSlides/notesSlide3.xml" Id="R93016156ef5847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b77609de3b49ef" /><Relationship Type="http://schemas.openxmlformats.org/officeDocument/2006/relationships/notesSlide" Target="/ppt/notesSlides/notesSlide4.xml" Id="R91c8f294cf2f4f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59de53dfd4e37" /><Relationship Type="http://schemas.openxmlformats.org/officeDocument/2006/relationships/notesSlide" Target="/ppt/notesSlides/notesSlide5.xml" Id="R3d7a24abac8c4a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cfc0aa2274d47" /><Relationship Type="http://schemas.openxmlformats.org/officeDocument/2006/relationships/notesSlide" Target="/ppt/notesSlides/notesSlide6.xml" Id="R11f6d0fcdae943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4d5c26a4924789" /><Relationship Type="http://schemas.openxmlformats.org/officeDocument/2006/relationships/notesSlide" Target="/ppt/notesSlides/notesSlide7.xml" Id="R8f9ccb11998249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34c4e1c1864c09" /><Relationship Type="http://schemas.openxmlformats.org/officeDocument/2006/relationships/notesSlide" Target="/ppt/notesSlides/notesSlide8.xml" Id="R3afa9c1a62ea40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92fedc18ac493f" /><Relationship Type="http://schemas.openxmlformats.org/officeDocument/2006/relationships/notesSlide" Target="/ppt/notesSlides/notesSlide9.xml" Id="R1ad3e7508c724a2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3348a1b47d4277" /><Relationship Type="http://schemas.openxmlformats.org/officeDocument/2006/relationships/notesSlide" Target="/ppt/notesSlides/notesSlide10.xml" Id="R36a60ee51a9a41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brand">
            <a:extLst xmlns:a="http://schemas.openxmlformats.org/drawingml/2006/main">
              <a:ext uri="{FF2B5EF4-FFF2-40B4-BE49-F238E27FC236}">
                <a16:creationId xmlns:a16="http://schemas.microsoft.com/office/drawing/2014/main" id="{D04838BB-8016-4B92-91F4-C3B3422C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7B8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7B85B"/>
                </a:solidFill>
                <a:latin typeface="Aptos"/>
                <a:ea typeface="Aptos"/>
                <a:cs typeface="Aptos"/>
              </a:rPr>
              <a:t>RITMO</a:t>
            </a:r>
          </a:p>
        </p:txBody>
      </p:sp>
      <p:sp>
        <p:nvSpPr>
          <p:cNvPr id="2" name="hook">
            <a:extLst xmlns:a="http://schemas.openxmlformats.org/drawingml/2006/main">
              <a:ext uri="{FF2B5EF4-FFF2-40B4-BE49-F238E27FC236}">
                <a16:creationId xmlns:a16="http://schemas.microsoft.com/office/drawing/2014/main" id="{26D29887-0516-4C45-9D3E-CEE4EDAB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65532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Un turno cambia.</a:t>
            </a:r>
          </a:p>
          <a:p xmlns:a="http://schemas.openxmlformats.org/drawingml/2006/main">
            <a:pPr algn="l">
              <a:defRPr sz="4050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Tu semana no debería colapsar.</a:t>
            </a:r>
          </a:p>
        </p:txBody>
      </p:sp>
      <p:sp>
        <p:nvSpPr>
          <p:cNvPr id="3" name="subhook">
            <a:extLst xmlns:a="http://schemas.openxmlformats.org/drawingml/2006/main">
              <a:ext uri="{FF2B5EF4-FFF2-40B4-BE49-F238E27FC236}">
                <a16:creationId xmlns:a16="http://schemas.microsoft.com/office/drawing/2014/main" id="{17CCF3FE-06E9-4EFF-9B3D-3FC56E19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433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8AFB9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A8AFB9"/>
                </a:solidFill>
                <a:latin typeface="Aptos"/>
                <a:ea typeface="Aptos"/>
                <a:cs typeface="Aptos"/>
              </a:rPr>
              <a:t>Replanificación semanal para estudiantes que trabajan con turnos variables.</a:t>
            </a:r>
          </a:p>
        </p:txBody>
      </p:sp>
      <p:sp>
        <p:nvSpPr>
          <p:cNvPr id="4" name="ask-line">
            <a:extLst xmlns:a="http://schemas.openxmlformats.org/drawingml/2006/main">
              <a:ext uri="{FF2B5EF4-FFF2-40B4-BE49-F238E27FC236}">
                <a16:creationId xmlns:a16="http://schemas.microsoft.com/office/drawing/2014/main" id="{66BA1671-2B45-4246-B051-1F99132D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6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am">
            <a:extLst xmlns:a="http://schemas.openxmlformats.org/drawingml/2006/main">
              <a:ext uri="{FF2B5EF4-FFF2-40B4-BE49-F238E27FC236}">
                <a16:creationId xmlns:a16="http://schemas.microsoft.com/office/drawing/2014/main" id="{2B51E6AF-1CD8-4273-A33E-B05F34DA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53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1EA"/>
                </a:solidFill>
                <a:latin typeface="Aptos"/>
                <a:ea typeface="Aptos"/>
                <a:cs typeface="Aptos"/>
              </a:rPr>
              <a:t>ProyectoX · Pitch final 2026</a:t>
            </a:r>
          </a:p>
        </p:txBody>
      </p:sp>
      <p:sp>
        <p:nvSpPr>
          <p:cNvPr id="6" name="week-frame">
            <a:extLst xmlns:a="http://schemas.openxmlformats.org/drawingml/2006/main">
              <a:ext uri="{FF2B5EF4-FFF2-40B4-BE49-F238E27FC236}">
                <a16:creationId xmlns:a16="http://schemas.microsoft.com/office/drawing/2014/main" id="{2EEEE805-001A-4373-BE7A-F91A8207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781050"/>
            <a:ext cx="3981450" cy="5219700"/>
          </a:xfrm>
          <a:prstGeom xmlns:a="http://schemas.openxmlformats.org/drawingml/2006/main" prst="roundRect">
            <a:avLst>
              <a:gd name="adj" fmla="val 1435"/>
            </a:avLst>
          </a:prstGeom>
          <a:solidFill xmlns:a="http://schemas.openxmlformats.org/drawingml/2006/main">
            <a:srgbClr val="1B1F25"/>
          </a:solidFill>
          <a:ln xmlns:a="http://schemas.openxmlformats.org/drawingml/2006/main" w="9525">
            <a:solidFill>
              <a:srgbClr val="3B424D"/>
            </a:solidFill>
            <a:prstDash val="solid"/>
          </a:ln>
        </p:spPr>
      </p:sp>
      <p:sp>
        <p:nvSpPr>
          <p:cNvPr id="7" name="week-label">
            <a:extLst xmlns:a="http://schemas.openxmlformats.org/drawingml/2006/main">
              <a:ext uri="{FF2B5EF4-FFF2-40B4-BE49-F238E27FC236}">
                <a16:creationId xmlns:a16="http://schemas.microsoft.com/office/drawing/2014/main" id="{0729C4CE-908E-4F8C-9200-90E1A97F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0668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8AFB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AFB9"/>
                </a:solidFill>
                <a:latin typeface="Aptos"/>
                <a:ea typeface="Aptos"/>
                <a:cs typeface="Aptos"/>
              </a:rPr>
              <a:t>MARTES · 18:00</a:t>
            </a:r>
          </a:p>
        </p:txBody>
      </p:sp>
      <p:sp>
        <p:nvSpPr>
          <p:cNvPr id="8" name="week-title">
            <a:extLst xmlns:a="http://schemas.openxmlformats.org/drawingml/2006/main">
              <a:ext uri="{FF2B5EF4-FFF2-40B4-BE49-F238E27FC236}">
                <a16:creationId xmlns:a16="http://schemas.microsoft.com/office/drawing/2014/main" id="{A6EECAE5-9BF5-42D3-B1AF-FE6E4865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38112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El turno se extendió</a:t>
            </a:r>
          </a:p>
        </p:txBody>
      </p:sp>
      <p:sp>
        <p:nvSpPr>
          <p:cNvPr id="9" name="day-L">
            <a:extLst xmlns:a="http://schemas.openxmlformats.org/drawingml/2006/main">
              <a:ext uri="{FF2B5EF4-FFF2-40B4-BE49-F238E27FC236}">
                <a16:creationId xmlns:a16="http://schemas.microsoft.com/office/drawing/2014/main" id="{5783B11B-8778-40AC-8B85-BBE58250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764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8AFB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AFB9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10" name="day-col-L">
            <a:extLst xmlns:a="http://schemas.openxmlformats.org/drawingml/2006/main">
              <a:ext uri="{FF2B5EF4-FFF2-40B4-BE49-F238E27FC236}">
                <a16:creationId xmlns:a16="http://schemas.microsoft.com/office/drawing/2014/main" id="{75D801C8-D3F3-48DF-9D41-4DD4DFED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43150"/>
            <a:ext cx="400050" cy="27813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242A32"/>
          </a:solidFill>
          <a:ln xmlns:a="http://schemas.openxmlformats.org/drawingml/2006/main" w="9525">
            <a:solidFill>
              <a:srgbClr val="3B424D"/>
            </a:solidFill>
            <a:prstDash val="solid"/>
          </a:ln>
        </p:spPr>
      </p:sp>
      <p:sp>
        <p:nvSpPr>
          <p:cNvPr id="11" name="day-M">
            <a:extLst xmlns:a="http://schemas.openxmlformats.org/drawingml/2006/main">
              <a:ext uri="{FF2B5EF4-FFF2-40B4-BE49-F238E27FC236}">
                <a16:creationId xmlns:a16="http://schemas.microsoft.com/office/drawing/2014/main" id="{B96C10A6-A65B-4A07-BCA2-14A3711B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0764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36D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6D5B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12" name="day-col-M">
            <a:extLst xmlns:a="http://schemas.openxmlformats.org/drawingml/2006/main">
              <a:ext uri="{FF2B5EF4-FFF2-40B4-BE49-F238E27FC236}">
                <a16:creationId xmlns:a16="http://schemas.microsoft.com/office/drawing/2014/main" id="{2CDEBD26-32EB-457F-A8A4-DC1656DE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343150"/>
            <a:ext cx="400050" cy="27813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242A32"/>
          </a:solidFill>
          <a:ln xmlns:a="http://schemas.openxmlformats.org/drawingml/2006/main" w="9525">
            <a:solidFill>
              <a:srgbClr val="E36D5B"/>
            </a:solidFill>
            <a:prstDash val="solid"/>
          </a:ln>
        </p:spPr>
      </p:sp>
      <p:sp>
        <p:nvSpPr>
          <p:cNvPr id="13" name="day-X">
            <a:extLst xmlns:a="http://schemas.openxmlformats.org/drawingml/2006/main">
              <a:ext uri="{FF2B5EF4-FFF2-40B4-BE49-F238E27FC236}">
                <a16:creationId xmlns:a16="http://schemas.microsoft.com/office/drawing/2014/main" id="{D2C774D9-FAF8-4D71-81C0-5A51FF88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764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8AFB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AFB9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14" name="day-col-X">
            <a:extLst xmlns:a="http://schemas.openxmlformats.org/drawingml/2006/main">
              <a:ext uri="{FF2B5EF4-FFF2-40B4-BE49-F238E27FC236}">
                <a16:creationId xmlns:a16="http://schemas.microsoft.com/office/drawing/2014/main" id="{A694E3A8-6A06-42BA-A127-79F2DA9B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43150"/>
            <a:ext cx="400050" cy="27813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242A32"/>
          </a:solidFill>
          <a:ln xmlns:a="http://schemas.openxmlformats.org/drawingml/2006/main" w="9525">
            <a:solidFill>
              <a:srgbClr val="3B424D"/>
            </a:solidFill>
            <a:prstDash val="solid"/>
          </a:ln>
        </p:spPr>
      </p:sp>
      <p:sp>
        <p:nvSpPr>
          <p:cNvPr id="15" name="day-J">
            <a:extLst xmlns:a="http://schemas.openxmlformats.org/drawingml/2006/main">
              <a:ext uri="{FF2B5EF4-FFF2-40B4-BE49-F238E27FC236}">
                <a16:creationId xmlns:a16="http://schemas.microsoft.com/office/drawing/2014/main" id="{68A3CE8D-6D2B-46E6-8523-93DCB7B8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0764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8AFB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AFB9"/>
                </a:solidFill>
                <a:latin typeface="Aptos"/>
                <a:ea typeface="Aptos"/>
                <a:cs typeface="Aptos"/>
              </a:rPr>
              <a:t>J</a:t>
            </a:r>
          </a:p>
        </p:txBody>
      </p:sp>
      <p:sp>
        <p:nvSpPr>
          <p:cNvPr id="16" name="day-col-J">
            <a:extLst xmlns:a="http://schemas.openxmlformats.org/drawingml/2006/main">
              <a:ext uri="{FF2B5EF4-FFF2-40B4-BE49-F238E27FC236}">
                <a16:creationId xmlns:a16="http://schemas.microsoft.com/office/drawing/2014/main" id="{00FDB4A5-0F4D-4588-BB23-5D3EE49C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343150"/>
            <a:ext cx="400050" cy="27813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242A32"/>
          </a:solidFill>
          <a:ln xmlns:a="http://schemas.openxmlformats.org/drawingml/2006/main" w="9525">
            <a:solidFill>
              <a:srgbClr val="3B424D"/>
            </a:solidFill>
            <a:prstDash val="solid"/>
          </a:ln>
        </p:spPr>
      </p:sp>
      <p:sp>
        <p:nvSpPr>
          <p:cNvPr id="17" name="day-V">
            <a:extLst xmlns:a="http://schemas.openxmlformats.org/drawingml/2006/main">
              <a:ext uri="{FF2B5EF4-FFF2-40B4-BE49-F238E27FC236}">
                <a16:creationId xmlns:a16="http://schemas.microsoft.com/office/drawing/2014/main" id="{87B87815-AE56-4105-8C5F-A7849FE0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0764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8AFB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AFB9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18" name="day-col-V">
            <a:extLst xmlns:a="http://schemas.openxmlformats.org/drawingml/2006/main">
              <a:ext uri="{FF2B5EF4-FFF2-40B4-BE49-F238E27FC236}">
                <a16:creationId xmlns:a16="http://schemas.microsoft.com/office/drawing/2014/main" id="{10A0337A-3210-4B05-B98A-FD723608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343150"/>
            <a:ext cx="400050" cy="27813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242A32"/>
          </a:solidFill>
          <a:ln xmlns:a="http://schemas.openxmlformats.org/drawingml/2006/main" w="9525">
            <a:solidFill>
              <a:srgbClr val="3B424D"/>
            </a:solidFill>
            <a:prstDash val="solid"/>
          </a:ln>
        </p:spPr>
      </p:sp>
      <p:sp>
        <p:nvSpPr>
          <p:cNvPr id="19" name="work-base">
            <a:extLst xmlns:a="http://schemas.openxmlformats.org/drawingml/2006/main">
              <a:ext uri="{FF2B5EF4-FFF2-40B4-BE49-F238E27FC236}">
                <a16:creationId xmlns:a16="http://schemas.microsoft.com/office/drawing/2014/main" id="{191926D0-C004-40B1-A922-30F89023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52700"/>
            <a:ext cx="3048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36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work-extra">
            <a:extLst xmlns:a="http://schemas.openxmlformats.org/drawingml/2006/main">
              <a:ext uri="{FF2B5EF4-FFF2-40B4-BE49-F238E27FC236}">
                <a16:creationId xmlns:a16="http://schemas.microsoft.com/office/drawing/2014/main" id="{8DB58359-6D2E-4E5F-87F8-DDE77173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38575"/>
            <a:ext cx="304800" cy="7239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F88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tudy-lost">
            <a:extLst xmlns:a="http://schemas.openxmlformats.org/drawingml/2006/main">
              <a:ext uri="{FF2B5EF4-FFF2-40B4-BE49-F238E27FC236}">
                <a16:creationId xmlns:a16="http://schemas.microsoft.com/office/drawing/2014/main" id="{5AEB7FCD-92EF-4E0F-A9F6-AF5E6111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152900"/>
            <a:ext cx="304800" cy="74295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7B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ork-tag">
            <a:extLst xmlns:a="http://schemas.openxmlformats.org/drawingml/2006/main">
              <a:ext uri="{FF2B5EF4-FFF2-40B4-BE49-F238E27FC236}">
                <a16:creationId xmlns:a16="http://schemas.microsoft.com/office/drawing/2014/main" id="{D4E69F89-7E8B-40BD-984D-342BC591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958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F887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F8879"/>
                </a:solidFill>
                <a:latin typeface="Aptos"/>
                <a:ea typeface="Aptos"/>
                <a:cs typeface="Aptos"/>
              </a:rPr>
              <a:t>+3 h</a:t>
            </a:r>
          </a:p>
        </p:txBody>
      </p:sp>
      <p:sp>
        <p:nvSpPr>
          <p:cNvPr id="23" name="week-result">
            <a:extLst xmlns:a="http://schemas.openxmlformats.org/drawingml/2006/main">
              <a:ext uri="{FF2B5EF4-FFF2-40B4-BE49-F238E27FC236}">
                <a16:creationId xmlns:a16="http://schemas.microsoft.com/office/drawing/2014/main" id="{7D74809B-4B71-429A-94AA-3F220339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305425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1A77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1A77B"/>
                </a:solidFill>
                <a:latin typeface="Aptos"/>
                <a:ea typeface="Aptos"/>
                <a:cs typeface="Aptos"/>
              </a:rPr>
              <a:t>Ritmo mueve el estudio</a:t>
            </a:r>
          </a:p>
          <a:p xmlns:a="http://schemas.openxmlformats.org/drawingml/2006/main">
            <a:pPr algn="l">
              <a:defRPr sz="1275" b="1">
                <a:solidFill>
                  <a:srgbClr val="61A77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1A77B"/>
                </a:solidFill>
                <a:latin typeface="Aptos"/>
                <a:ea typeface="Aptos"/>
                <a:cs typeface="Aptos"/>
              </a:rPr>
              <a:t>antes del plazo.</a:t>
            </a:r>
          </a:p>
        </p:txBody>
      </p:sp>
    </p:spTree>
    <p:extLst>
      <p:ext uri="{BB962C8B-B14F-4D97-AF65-F5344CB8AC3E}">
        <p14:creationId xmlns:p14="http://schemas.microsoft.com/office/powerpoint/2010/main" val="7561387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-2">
            <a:extLst xmlns:a="http://schemas.openxmlformats.org/drawingml/2006/main">
              <a:ext uri="{FF2B5EF4-FFF2-40B4-BE49-F238E27FC236}">
                <a16:creationId xmlns:a16="http://schemas.microsoft.com/office/drawing/2014/main" id="{B1BE9CB5-F417-459A-8223-CDC3494F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36D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6D5B"/>
                </a:solidFill>
                <a:latin typeface="Aptos"/>
                <a:ea typeface="Aptos"/>
                <a:cs typeface="Aptos"/>
              </a:rPr>
              <a:t>RITMO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A0001D6C-43CC-4028-8EB4-8C501BB6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839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317"/>
                </a:solidFill>
                <a:latin typeface="Aptos"/>
                <a:ea typeface="Aptos"/>
                <a:cs typeface="Aptos"/>
              </a:rPr>
              <a:t>El problema no es recordar la prueba. Es decidir qué sacrificar.</a:t>
            </a:r>
          </a:p>
        </p:txBody>
      </p:sp>
      <p:sp>
        <p:nvSpPr>
          <p:cNvPr id="3" name="num-2">
            <a:extLst xmlns:a="http://schemas.openxmlformats.org/drawingml/2006/main">
              <a:ext uri="{FF2B5EF4-FFF2-40B4-BE49-F238E27FC236}">
                <a16:creationId xmlns:a16="http://schemas.microsoft.com/office/drawing/2014/main" id="{BCDBD0A0-334E-4A93-BB0E-95D3B251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9616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9616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segment-label">
            <a:extLst xmlns:a="http://schemas.openxmlformats.org/drawingml/2006/main">
              <a:ext uri="{FF2B5EF4-FFF2-40B4-BE49-F238E27FC236}">
                <a16:creationId xmlns:a16="http://schemas.microsoft.com/office/drawing/2014/main" id="{235D8A1D-1B12-46B8-899A-86FC977D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36D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6D5B"/>
                </a:solidFill>
                <a:latin typeface="Aptos"/>
                <a:ea typeface="Aptos"/>
                <a:cs typeface="Aptos"/>
              </a:rPr>
              <a:t>SEGMENTO INICIAL</a:t>
            </a:r>
          </a:p>
        </p:txBody>
      </p:sp>
      <p:sp>
        <p:nvSpPr>
          <p:cNvPr id="5" name="segment">
            <a:extLst xmlns:a="http://schemas.openxmlformats.org/drawingml/2006/main">
              <a:ext uri="{FF2B5EF4-FFF2-40B4-BE49-F238E27FC236}">
                <a16:creationId xmlns:a16="http://schemas.microsoft.com/office/drawing/2014/main" id="{D78DBADD-9EF8-4F8C-91CF-81EF2045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24025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317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11317"/>
                </a:solidFill>
                <a:latin typeface="Aptos"/>
                <a:ea typeface="Aptos"/>
                <a:cs typeface="Aptos"/>
              </a:rPr>
              <a:t>Estudiantes de educación superior que trabajan 15–30 horas semanales en turnos variables.</a:t>
            </a:r>
          </a:p>
        </p:txBody>
      </p:sp>
      <p:sp>
        <p:nvSpPr>
          <p:cNvPr id="6" name="timeline">
            <a:extLst xmlns:a="http://schemas.openxmlformats.org/drawingml/2006/main">
              <a:ext uri="{FF2B5EF4-FFF2-40B4-BE49-F238E27FC236}">
                <a16:creationId xmlns:a16="http://schemas.microsoft.com/office/drawing/2014/main" id="{FB1FB2CD-9E7F-48A0-8615-C083C96E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62125"/>
            <a:ext cx="0" cy="35528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BC6BC"/>
            </a:solidFill>
            <a:prstDash val="solid"/>
          </a:ln>
        </p:spPr>
      </p:sp>
      <p:sp>
        <p:nvSpPr>
          <p:cNvPr id="7" name="dot-0">
            <a:extLst xmlns:a="http://schemas.openxmlformats.org/drawingml/2006/main">
              <a:ext uri="{FF2B5EF4-FFF2-40B4-BE49-F238E27FC236}">
                <a16:creationId xmlns:a16="http://schemas.microsoft.com/office/drawing/2014/main" id="{C843498F-1E91-41AE-A1DF-055A9189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9545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5A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ime-0">
            <a:extLst xmlns:a="http://schemas.openxmlformats.org/drawingml/2006/main">
              <a:ext uri="{FF2B5EF4-FFF2-40B4-BE49-F238E27FC236}">
                <a16:creationId xmlns:a16="http://schemas.microsoft.com/office/drawing/2014/main" id="{B6F43788-F3BD-41FB-AFC8-34F74691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66875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A6C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5A6C8"/>
                </a:solidFill>
                <a:latin typeface="Aptos"/>
                <a:ea typeface="Aptos"/>
                <a:cs typeface="Aptos"/>
              </a:rPr>
              <a:t>18:00</a:t>
            </a:r>
          </a:p>
        </p:txBody>
      </p:sp>
      <p:sp>
        <p:nvSpPr>
          <p:cNvPr id="9" name="event-0">
            <a:extLst xmlns:a="http://schemas.openxmlformats.org/drawingml/2006/main">
              <a:ext uri="{FF2B5EF4-FFF2-40B4-BE49-F238E27FC236}">
                <a16:creationId xmlns:a16="http://schemas.microsoft.com/office/drawing/2014/main" id="{06AF0ACB-B6EB-486E-A119-65126B1E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66875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317"/>
                </a:solidFill>
                <a:latin typeface="Aptos"/>
                <a:ea typeface="Aptos"/>
                <a:cs typeface="Aptos"/>
              </a:rPr>
              <a:t>Comienza el turno</a:t>
            </a:r>
          </a:p>
        </p:txBody>
      </p:sp>
      <p:sp>
        <p:nvSpPr>
          <p:cNvPr id="10" name="dot-1">
            <a:extLst xmlns:a="http://schemas.openxmlformats.org/drawingml/2006/main">
              <a:ext uri="{FF2B5EF4-FFF2-40B4-BE49-F238E27FC236}">
                <a16:creationId xmlns:a16="http://schemas.microsoft.com/office/drawing/2014/main" id="{E8DDD617-295C-4A54-AEEE-B9361251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95575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6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ime-1">
            <a:extLst xmlns:a="http://schemas.openxmlformats.org/drawingml/2006/main">
              <a:ext uri="{FF2B5EF4-FFF2-40B4-BE49-F238E27FC236}">
                <a16:creationId xmlns:a16="http://schemas.microsoft.com/office/drawing/2014/main" id="{3DCF7690-946D-4C00-84A8-34456B15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67000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36D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36D5B"/>
                </a:solidFill>
                <a:latin typeface="Aptos"/>
                <a:ea typeface="Aptos"/>
                <a:cs typeface="Aptos"/>
              </a:rPr>
              <a:t>23:30</a:t>
            </a:r>
          </a:p>
        </p:txBody>
      </p:sp>
      <p:sp>
        <p:nvSpPr>
          <p:cNvPr id="12" name="event-1">
            <a:extLst xmlns:a="http://schemas.openxmlformats.org/drawingml/2006/main">
              <a:ext uri="{FF2B5EF4-FFF2-40B4-BE49-F238E27FC236}">
                <a16:creationId xmlns:a16="http://schemas.microsoft.com/office/drawing/2014/main" id="{A506EAC5-1CC2-49D6-BD04-6662BBED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6700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317"/>
                </a:solidFill>
                <a:latin typeface="Aptos"/>
                <a:ea typeface="Aptos"/>
                <a:cs typeface="Aptos"/>
              </a:rPr>
              <a:t>Falta un compañero</a:t>
            </a:r>
          </a:p>
        </p:txBody>
      </p:sp>
      <p:sp>
        <p:nvSpPr>
          <p:cNvPr id="13" name="dot-2">
            <a:extLst xmlns:a="http://schemas.openxmlformats.org/drawingml/2006/main">
              <a:ext uri="{FF2B5EF4-FFF2-40B4-BE49-F238E27FC236}">
                <a16:creationId xmlns:a16="http://schemas.microsoft.com/office/drawing/2014/main" id="{0FDC8879-2B12-4F1E-8DEE-E46730F5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957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88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ime-2">
            <a:extLst xmlns:a="http://schemas.openxmlformats.org/drawingml/2006/main">
              <a:ext uri="{FF2B5EF4-FFF2-40B4-BE49-F238E27FC236}">
                <a16:creationId xmlns:a16="http://schemas.microsoft.com/office/drawing/2014/main" id="{4659795B-6C8E-4403-8836-1FA638BF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67125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F887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F8879"/>
                </a:solidFill>
                <a:latin typeface="Aptos"/>
                <a:ea typeface="Aptos"/>
                <a:cs typeface="Aptos"/>
              </a:rPr>
              <a:t>00:10</a:t>
            </a:r>
          </a:p>
        </p:txBody>
      </p:sp>
      <p:sp>
        <p:nvSpPr>
          <p:cNvPr id="15" name="event-2">
            <a:extLst xmlns:a="http://schemas.openxmlformats.org/drawingml/2006/main">
              <a:ext uri="{FF2B5EF4-FFF2-40B4-BE49-F238E27FC236}">
                <a16:creationId xmlns:a16="http://schemas.microsoft.com/office/drawing/2014/main" id="{E6CB41B0-199D-4F11-AB80-E3D10E40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67125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317"/>
                </a:solidFill>
                <a:latin typeface="Aptos"/>
                <a:ea typeface="Aptos"/>
                <a:cs typeface="Aptos"/>
              </a:rPr>
              <a:t>Avisan que debe quedarse</a:t>
            </a:r>
          </a:p>
        </p:txBody>
      </p:sp>
      <p:sp>
        <p:nvSpPr>
          <p:cNvPr id="16" name="dot-3">
            <a:extLst xmlns:a="http://schemas.openxmlformats.org/drawingml/2006/main">
              <a:ext uri="{FF2B5EF4-FFF2-40B4-BE49-F238E27FC236}">
                <a16:creationId xmlns:a16="http://schemas.microsoft.com/office/drawing/2014/main" id="{8BDCB5FE-6E1D-40C7-A4DC-11572060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95825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B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ime-3">
            <a:extLst xmlns:a="http://schemas.openxmlformats.org/drawingml/2006/main">
              <a:ext uri="{FF2B5EF4-FFF2-40B4-BE49-F238E27FC236}">
                <a16:creationId xmlns:a16="http://schemas.microsoft.com/office/drawing/2014/main" id="{1DC88E5B-D4FD-4674-81A8-77A4A33C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67250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7B8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7B85B"/>
                </a:solidFill>
                <a:latin typeface="Aptos"/>
                <a:ea typeface="Aptos"/>
                <a:cs typeface="Aptos"/>
              </a:rPr>
              <a:t>03:00</a:t>
            </a:r>
          </a:p>
        </p:txBody>
      </p:sp>
      <p:sp>
        <p:nvSpPr>
          <p:cNvPr id="18" name="event-3">
            <a:extLst xmlns:a="http://schemas.openxmlformats.org/drawingml/2006/main">
              <a:ext uri="{FF2B5EF4-FFF2-40B4-BE49-F238E27FC236}">
                <a16:creationId xmlns:a16="http://schemas.microsoft.com/office/drawing/2014/main" id="{7FF1D2FF-E07F-4EDE-B2CE-EFD0D7A3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66725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31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317"/>
                </a:solidFill>
                <a:latin typeface="Aptos"/>
                <a:ea typeface="Aptos"/>
                <a:cs typeface="Aptos"/>
              </a:rPr>
              <a:t>Sale; pierde el bloque de estudio</a:t>
            </a:r>
          </a:p>
        </p:txBody>
      </p:sp>
      <p:sp>
        <p:nvSpPr>
          <p:cNvPr id="19" name="impact">
            <a:extLst xmlns:a="http://schemas.openxmlformats.org/drawingml/2006/main">
              <a:ext uri="{FF2B5EF4-FFF2-40B4-BE49-F238E27FC236}">
                <a16:creationId xmlns:a16="http://schemas.microsoft.com/office/drawing/2014/main" id="{04F83162-EA4D-4740-B5E0-D4F1627C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95650"/>
            <a:ext cx="5143500" cy="201930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C"/>
            </a:solidFill>
            <a:prstDash val="solid"/>
          </a:ln>
        </p:spPr>
      </p:sp>
      <p:sp>
        <p:nvSpPr>
          <p:cNvPr id="20" name="impact-title">
            <a:extLst xmlns:a="http://schemas.openxmlformats.org/drawingml/2006/main">
              <a:ext uri="{FF2B5EF4-FFF2-40B4-BE49-F238E27FC236}">
                <a16:creationId xmlns:a16="http://schemas.microsoft.com/office/drawing/2014/main" id="{651773AA-1FA8-4421-8FCE-72BF039E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9616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16B"/>
                </a:solidFill>
                <a:latin typeface="Aptos"/>
                <a:ea typeface="Aptos"/>
                <a:cs typeface="Aptos"/>
              </a:rPr>
              <a:t>Costo observado</a:t>
            </a:r>
          </a:p>
        </p:txBody>
      </p:sp>
      <p:sp>
        <p:nvSpPr>
          <p:cNvPr id="21" name="impact-copy">
            <a:extLst xmlns:a="http://schemas.openxmlformats.org/drawingml/2006/main">
              <a:ext uri="{FF2B5EF4-FFF2-40B4-BE49-F238E27FC236}">
                <a16:creationId xmlns:a16="http://schemas.microsoft.com/office/drawing/2014/main" id="{03B4F089-8E37-4A24-A554-25F49CC5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436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076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31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317"/>
                </a:solidFill>
                <a:latin typeface="Aptos"/>
                <a:ea typeface="Aptos"/>
                <a:cs typeface="Aptos"/>
              </a:rPr>
              <a:t>Tiempo · sueño · desempeño académico</a:t>
            </a:r>
          </a:p>
        </p:txBody>
      </p:sp>
      <p:sp>
        <p:nvSpPr>
          <p:cNvPr id="22" name="impact-evidence">
            <a:extLst xmlns:a="http://schemas.openxmlformats.org/drawingml/2006/main">
              <a:ext uri="{FF2B5EF4-FFF2-40B4-BE49-F238E27FC236}">
                <a16:creationId xmlns:a16="http://schemas.microsoft.com/office/drawing/2014/main" id="{8129A6D2-6C0C-4A22-923F-CB66BBDD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0100"/>
            <a:ext cx="4362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74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9616B"/>
                </a:solidFill>
                <a:latin typeface="Aptos"/>
                <a:ea typeface="Aptos"/>
                <a:cs typeface="Aptos"/>
              </a:rPr>
              <a:t>7 registros de entrevista convergen en cambios avisados tarde, recuperación manual y choques frecuentes con clases o estudio.</a:t>
            </a:r>
          </a:p>
        </p:txBody>
      </p:sp>
      <p:sp>
        <p:nvSpPr>
          <p:cNvPr id="23" name="footnote">
            <a:extLst xmlns:a="http://schemas.openxmlformats.org/drawingml/2006/main">
              <a:ext uri="{FF2B5EF4-FFF2-40B4-BE49-F238E27FC236}">
                <a16:creationId xmlns:a16="http://schemas.microsoft.com/office/drawing/2014/main" id="{F5DE9A6E-3EEB-41AC-A448-75D5475D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16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16B"/>
                </a:solidFill>
                <a:latin typeface="Aptos"/>
                <a:ea typeface="Aptos"/>
                <a:cs typeface="Aptos"/>
              </a:rPr>
              <a:t>Evidencia del proyecto: síntesis transversal y entrevistas INT-01 a INT-07.</a:t>
            </a:r>
          </a:p>
        </p:txBody>
      </p:sp>
    </p:spTree>
    <p:extLst>
      <p:ext uri="{BB962C8B-B14F-4D97-AF65-F5344CB8AC3E}">
        <p14:creationId xmlns:p14="http://schemas.microsoft.com/office/powerpoint/2010/main" val="17517223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kicker-3">
            <a:extLst xmlns:a="http://schemas.openxmlformats.org/drawingml/2006/main">
              <a:ext uri="{FF2B5EF4-FFF2-40B4-BE49-F238E27FC236}">
                <a16:creationId xmlns:a16="http://schemas.microsoft.com/office/drawing/2014/main" id="{534B553F-80F6-4D80-8567-C4AD684E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36D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6D5B"/>
                </a:solidFill>
                <a:latin typeface="Aptos"/>
                <a:ea typeface="Aptos"/>
                <a:cs typeface="Aptos"/>
              </a:rPr>
              <a:t>RITMO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39A63E88-F221-4070-BF67-200D1422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839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317"/>
                </a:solidFill>
                <a:latin typeface="Aptos"/>
                <a:ea typeface="Aptos"/>
                <a:cs typeface="Aptos"/>
              </a:rPr>
              <a:t>Ritmo repara la semana en tres decisiones.</a:t>
            </a:r>
          </a:p>
        </p:txBody>
      </p:sp>
      <p:sp>
        <p:nvSpPr>
          <p:cNvPr id="3" name="num-3">
            <a:extLst xmlns:a="http://schemas.openxmlformats.org/drawingml/2006/main">
              <a:ext uri="{FF2B5EF4-FFF2-40B4-BE49-F238E27FC236}">
                <a16:creationId xmlns:a16="http://schemas.microsoft.com/office/drawing/2014/main" id="{83396087-983D-4CAB-8A2E-0B2593E2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9616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9616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step-n-0">
            <a:extLst xmlns:a="http://schemas.openxmlformats.org/drawingml/2006/main">
              <a:ext uri="{FF2B5EF4-FFF2-40B4-BE49-F238E27FC236}">
                <a16:creationId xmlns:a16="http://schemas.microsoft.com/office/drawing/2014/main" id="{6BD218D3-89AF-4692-8878-C14F243C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573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36D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36D5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step-t-0">
            <a:extLst xmlns:a="http://schemas.openxmlformats.org/drawingml/2006/main">
              <a:ext uri="{FF2B5EF4-FFF2-40B4-BE49-F238E27FC236}">
                <a16:creationId xmlns:a16="http://schemas.microsoft.com/office/drawing/2014/main" id="{8D5C76A6-3B6D-4FBF-8FCB-AA95BE69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1809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317"/>
                </a:solidFill>
                <a:latin typeface="Aptos"/>
                <a:ea typeface="Aptos"/>
                <a:cs typeface="Aptos"/>
              </a:rPr>
              <a:t>Registra</a:t>
            </a:r>
          </a:p>
        </p:txBody>
      </p:sp>
      <p:sp>
        <p:nvSpPr>
          <p:cNvPr id="6" name="step-b-0">
            <a:extLst xmlns:a="http://schemas.openxmlformats.org/drawingml/2006/main">
              <a:ext uri="{FF2B5EF4-FFF2-40B4-BE49-F238E27FC236}">
                <a16:creationId xmlns:a16="http://schemas.microsoft.com/office/drawing/2014/main" id="{F7F24BF1-0121-4060-B8E2-52148866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5262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16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616B"/>
                </a:solidFill>
                <a:latin typeface="Aptos"/>
                <a:ea typeface="Aptos"/>
                <a:cs typeface="Aptos"/>
              </a:rPr>
              <a:t>la extensión laboral</a:t>
            </a:r>
          </a:p>
        </p:txBody>
      </p:sp>
      <p:sp>
        <p:nvSpPr>
          <p:cNvPr id="7" name="step-line-0">
            <a:extLst xmlns:a="http://schemas.openxmlformats.org/drawingml/2006/main">
              <a:ext uri="{FF2B5EF4-FFF2-40B4-BE49-F238E27FC236}">
                <a16:creationId xmlns:a16="http://schemas.microsoft.com/office/drawing/2014/main" id="{AA0D4530-B0B4-4079-8C72-875044F4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9775"/>
            <a:ext cx="0" cy="75247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BC6BC"/>
            </a:solidFill>
            <a:prstDash val="solid"/>
          </a:ln>
        </p:spPr>
      </p:sp>
      <p:sp>
        <p:nvSpPr>
          <p:cNvPr id="8" name="step-n-1">
            <a:extLst xmlns:a="http://schemas.openxmlformats.org/drawingml/2006/main">
              <a:ext uri="{FF2B5EF4-FFF2-40B4-BE49-F238E27FC236}">
                <a16:creationId xmlns:a16="http://schemas.microsoft.com/office/drawing/2014/main" id="{0AD3CF0C-0489-4616-AFF1-FD2F26B9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765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36D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36D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step-t-1">
            <a:extLst xmlns:a="http://schemas.openxmlformats.org/drawingml/2006/main">
              <a:ext uri="{FF2B5EF4-FFF2-40B4-BE49-F238E27FC236}">
                <a16:creationId xmlns:a16="http://schemas.microsoft.com/office/drawing/2014/main" id="{C2BF19DB-C15B-4B7C-B5CA-8E6DE473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38450"/>
            <a:ext cx="1809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317"/>
                </a:solidFill>
                <a:latin typeface="Aptos"/>
                <a:ea typeface="Aptos"/>
                <a:cs typeface="Aptos"/>
              </a:rPr>
              <a:t>Prioriza</a:t>
            </a:r>
          </a:p>
        </p:txBody>
      </p:sp>
      <p:sp>
        <p:nvSpPr>
          <p:cNvPr id="10" name="step-b-1">
            <a:extLst xmlns:a="http://schemas.openxmlformats.org/drawingml/2006/main">
              <a:ext uri="{FF2B5EF4-FFF2-40B4-BE49-F238E27FC236}">
                <a16:creationId xmlns:a16="http://schemas.microsoft.com/office/drawing/2014/main" id="{526B9750-B195-4979-B191-745C2944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7182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16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616B"/>
                </a:solidFill>
                <a:latin typeface="Aptos"/>
                <a:ea typeface="Aptos"/>
                <a:cs typeface="Aptos"/>
              </a:rPr>
              <a:t>plazo y capacidad</a:t>
            </a:r>
          </a:p>
        </p:txBody>
      </p:sp>
      <p:sp>
        <p:nvSpPr>
          <p:cNvPr id="11" name="step-line-1">
            <a:extLst xmlns:a="http://schemas.openxmlformats.org/drawingml/2006/main">
              <a:ext uri="{FF2B5EF4-FFF2-40B4-BE49-F238E27FC236}">
                <a16:creationId xmlns:a16="http://schemas.microsoft.com/office/drawing/2014/main" id="{5A90806E-D25D-47FB-B28F-A1B60340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28975"/>
            <a:ext cx="0" cy="75247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BC6BC"/>
            </a:solidFill>
            <a:prstDash val="solid"/>
          </a:ln>
        </p:spPr>
      </p:sp>
      <p:sp>
        <p:nvSpPr>
          <p:cNvPr id="12" name="step-n-2">
            <a:extLst xmlns:a="http://schemas.openxmlformats.org/drawingml/2006/main">
              <a:ext uri="{FF2B5EF4-FFF2-40B4-BE49-F238E27FC236}">
                <a16:creationId xmlns:a16="http://schemas.microsoft.com/office/drawing/2014/main" id="{890917CF-9E61-4259-8DF9-07BC097C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36D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36D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step-t-2">
            <a:extLst xmlns:a="http://schemas.openxmlformats.org/drawingml/2006/main">
              <a:ext uri="{FF2B5EF4-FFF2-40B4-BE49-F238E27FC236}">
                <a16:creationId xmlns:a16="http://schemas.microsoft.com/office/drawing/2014/main" id="{8A0C83EC-4282-4F04-93F6-A5617B08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57650"/>
            <a:ext cx="1809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317"/>
                </a:solidFill>
                <a:latin typeface="Aptos"/>
                <a:ea typeface="Aptos"/>
                <a:cs typeface="Aptos"/>
              </a:rPr>
              <a:t>Confirma</a:t>
            </a:r>
          </a:p>
        </p:txBody>
      </p:sp>
      <p:sp>
        <p:nvSpPr>
          <p:cNvPr id="14" name="step-b-2">
            <a:extLst xmlns:a="http://schemas.openxmlformats.org/drawingml/2006/main">
              <a:ext uri="{FF2B5EF4-FFF2-40B4-BE49-F238E27FC236}">
                <a16:creationId xmlns:a16="http://schemas.microsoft.com/office/drawing/2014/main" id="{4C840EED-F1F0-4BC4-B104-AF13D5D2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9102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16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616B"/>
                </a:solidFill>
                <a:latin typeface="Aptos"/>
                <a:ea typeface="Aptos"/>
                <a:cs typeface="Aptos"/>
              </a:rPr>
              <a:t>un plan viable</a:t>
            </a:r>
          </a:p>
        </p:txBody>
      </p:sp>
      <p:sp>
        <p:nvSpPr>
          <p:cNvPr id="15" name="three-min">
            <a:extLst xmlns:a="http://schemas.openxmlformats.org/drawingml/2006/main">
              <a:ext uri="{FF2B5EF4-FFF2-40B4-BE49-F238E27FC236}">
                <a16:creationId xmlns:a16="http://schemas.microsoft.com/office/drawing/2014/main" id="{269C684D-551E-44A8-ACC3-95AAF357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10200"/>
            <a:ext cx="264795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B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hree-min-text">
            <a:extLst xmlns:a="http://schemas.openxmlformats.org/drawingml/2006/main">
              <a:ext uri="{FF2B5EF4-FFF2-40B4-BE49-F238E27FC236}">
                <a16:creationId xmlns:a16="http://schemas.microsoft.com/office/drawing/2014/main" id="{8140F360-9989-4BA1-820B-63CA7F2B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572125"/>
            <a:ext cx="2362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1B0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1B08"/>
                </a:solidFill>
                <a:latin typeface="Aptos"/>
                <a:ea typeface="Aptos"/>
                <a:cs typeface="Aptos"/>
              </a:rPr>
              <a:t>Objetivo: menos de 3 minutos</a:t>
            </a:r>
          </a:p>
        </p:txBody>
      </p:sp>
      <p:sp>
        <p:nvSpPr>
          <p:cNvPr id="17" name="mvp-frame">
            <a:extLst xmlns:a="http://schemas.openxmlformats.org/drawingml/2006/main">
              <a:ext uri="{FF2B5EF4-FFF2-40B4-BE49-F238E27FC236}">
                <a16:creationId xmlns:a16="http://schemas.microsoft.com/office/drawing/2014/main" id="{70BAE77B-7C28-4A90-B1BB-323E1DA6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409700"/>
            <a:ext cx="8096250" cy="4610100"/>
          </a:xfrm>
          <a:prstGeom xmlns:a="http://schemas.openxmlformats.org/drawingml/2006/main" prst="roundRect">
            <a:avLst>
              <a:gd name="adj" fmla="val 1240"/>
            </a:avLst>
          </a:prstGeom>
          <a:solidFill xmlns:a="http://schemas.openxmlformats.org/drawingml/2006/main">
            <a:srgbClr val="111317"/>
          </a:solidFill>
          <a:ln xmlns:a="http://schemas.openxmlformats.org/drawingml/2006/main" w="9525">
            <a:solidFill>
              <a:srgbClr val="3B424D"/>
            </a:solidFill>
            <a:prstDash val="solid"/>
          </a:ln>
        </p:spPr>
      </p:sp>
      <p:sp>
        <p:nvSpPr>
          <p:cNvPr id="18" name="mvp-head">
            <a:extLst xmlns:a="http://schemas.openxmlformats.org/drawingml/2006/main">
              <a:ext uri="{FF2B5EF4-FFF2-40B4-BE49-F238E27FC236}">
                <a16:creationId xmlns:a16="http://schemas.microsoft.com/office/drawing/2014/main" id="{82A16D17-A88E-44C0-971F-B2383501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409700"/>
            <a:ext cx="80962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5181D"/>
          </a:solidFill>
          <a:ln xmlns:a="http://schemas.openxmlformats.org/drawingml/2006/main" w="9525">
            <a:solidFill>
              <a:srgbClr val="3B424D"/>
            </a:solidFill>
            <a:prstDash val="solid"/>
          </a:ln>
        </p:spPr>
      </p:sp>
      <p:sp>
        <p:nvSpPr>
          <p:cNvPr id="19" name="mvp-logo">
            <a:extLst xmlns:a="http://schemas.openxmlformats.org/drawingml/2006/main">
              <a:ext uri="{FF2B5EF4-FFF2-40B4-BE49-F238E27FC236}">
                <a16:creationId xmlns:a16="http://schemas.microsoft.com/office/drawing/2014/main" id="{ECF8220A-709F-42DE-BFF0-83202F8D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5430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7B85B"/>
            </a:solidFill>
            <a:prstDash val="solid"/>
          </a:ln>
        </p:spPr>
      </p:sp>
      <p:sp>
        <p:nvSpPr>
          <p:cNvPr id="20" name="mvp-r">
            <a:extLst xmlns:a="http://schemas.openxmlformats.org/drawingml/2006/main">
              <a:ext uri="{FF2B5EF4-FFF2-40B4-BE49-F238E27FC236}">
                <a16:creationId xmlns:a16="http://schemas.microsoft.com/office/drawing/2014/main" id="{02D48BD6-208E-452C-82E4-FBC8AFC6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600200"/>
            <a:ext cx="1333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7B8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7B85B"/>
                </a:solidFill>
                <a:latin typeface="Aptos"/>
                <a:ea typeface="Aptos"/>
                <a:cs typeface="Aptos"/>
              </a:rPr>
              <a:t>R</a:t>
            </a:r>
          </a:p>
        </p:txBody>
      </p:sp>
      <p:sp>
        <p:nvSpPr>
          <p:cNvPr id="21" name="mvp-name">
            <a:extLst xmlns:a="http://schemas.openxmlformats.org/drawingml/2006/main">
              <a:ext uri="{FF2B5EF4-FFF2-40B4-BE49-F238E27FC236}">
                <a16:creationId xmlns:a16="http://schemas.microsoft.com/office/drawing/2014/main" id="{DDAC01E1-30B5-48A8-9AB8-E0469792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33525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Ritmo</a:t>
            </a:r>
          </a:p>
        </p:txBody>
      </p:sp>
      <p:sp>
        <p:nvSpPr>
          <p:cNvPr id="22" name="mvp-version">
            <a:extLst xmlns:a="http://schemas.openxmlformats.org/drawingml/2006/main">
              <a:ext uri="{FF2B5EF4-FFF2-40B4-BE49-F238E27FC236}">
                <a16:creationId xmlns:a16="http://schemas.microsoft.com/office/drawing/2014/main" id="{256D34D6-BAC5-4373-BFEE-821FAEDC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43075"/>
            <a:ext cx="2286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8AFB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8AFB9"/>
                </a:solidFill>
                <a:latin typeface="Aptos"/>
                <a:ea typeface="Aptos"/>
                <a:cs typeface="Aptos"/>
              </a:rPr>
              <a:t>MVP v0.2 · Replanificación semanal</a:t>
            </a:r>
          </a:p>
        </p:txBody>
      </p:sp>
      <p:sp>
        <p:nvSpPr>
          <p:cNvPr id="23" name="mvp-scenario">
            <a:extLst xmlns:a="http://schemas.openxmlformats.org/drawingml/2006/main">
              <a:ext uri="{FF2B5EF4-FFF2-40B4-BE49-F238E27FC236}">
                <a16:creationId xmlns:a16="http://schemas.microsoft.com/office/drawing/2014/main" id="{2C42C18E-0EFA-46E0-8DB3-335A299C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152650"/>
            <a:ext cx="4191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Tu turno se extendió. Repara la semana.</a:t>
            </a:r>
          </a:p>
        </p:txBody>
      </p:sp>
      <p:sp>
        <p:nvSpPr>
          <p:cNvPr id="24" name="mvp-action">
            <a:extLst xmlns:a="http://schemas.openxmlformats.org/drawingml/2006/main">
              <a:ext uri="{FF2B5EF4-FFF2-40B4-BE49-F238E27FC236}">
                <a16:creationId xmlns:a16="http://schemas.microsoft.com/office/drawing/2014/main" id="{6D37D50D-7796-4A32-8A09-CF6437C5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152650"/>
            <a:ext cx="1781175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36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mvp-action-t">
            <a:extLst xmlns:a="http://schemas.openxmlformats.org/drawingml/2006/main">
              <a:ext uri="{FF2B5EF4-FFF2-40B4-BE49-F238E27FC236}">
                <a16:creationId xmlns:a16="http://schemas.microsoft.com/office/drawing/2014/main" id="{B74E61B0-F4F1-426D-AEC7-8E56CA76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257425"/>
            <a:ext cx="1495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0B0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0B08"/>
                </a:solidFill>
                <a:latin typeface="Aptos"/>
                <a:ea typeface="Aptos"/>
                <a:cs typeface="Aptos"/>
              </a:rPr>
              <a:t>Extensión registrada</a:t>
            </a:r>
          </a:p>
        </p:txBody>
      </p:sp>
      <p:sp>
        <p:nvSpPr>
          <p:cNvPr id="26" name="mvp-day-0">
            <a:extLst xmlns:a="http://schemas.openxmlformats.org/drawingml/2006/main">
              <a:ext uri="{FF2B5EF4-FFF2-40B4-BE49-F238E27FC236}">
                <a16:creationId xmlns:a16="http://schemas.microsoft.com/office/drawing/2014/main" id="{9CD542F6-D239-4DAF-8D80-9A645B14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724150"/>
            <a:ext cx="1352550" cy="1952625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1B1F25"/>
          </a:solidFill>
          <a:ln xmlns:a="http://schemas.openxmlformats.org/drawingml/2006/main" w="9525">
            <a:solidFill>
              <a:srgbClr val="3B424D"/>
            </a:solidFill>
            <a:prstDash val="solid"/>
          </a:ln>
        </p:spPr>
      </p:sp>
      <p:sp>
        <p:nvSpPr>
          <p:cNvPr id="27" name="mvp-day-h-0">
            <a:extLst xmlns:a="http://schemas.openxmlformats.org/drawingml/2006/main">
              <a:ext uri="{FF2B5EF4-FFF2-40B4-BE49-F238E27FC236}">
                <a16:creationId xmlns:a16="http://schemas.microsoft.com/office/drawing/2014/main" id="{AF47DF38-4521-4A40-AA05-4604B1C6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8575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28" name="mvp-load-0">
            <a:extLst xmlns:a="http://schemas.openxmlformats.org/drawingml/2006/main">
              <a:ext uri="{FF2B5EF4-FFF2-40B4-BE49-F238E27FC236}">
                <a16:creationId xmlns:a16="http://schemas.microsoft.com/office/drawing/2014/main" id="{E5D3A5BE-BD6B-448C-8A72-30C8BBD2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575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8AFB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8AFB9"/>
                </a:solidFill>
                <a:latin typeface="Aptos"/>
                <a:ea typeface="Aptos"/>
                <a:cs typeface="Aptos"/>
              </a:rPr>
              <a:t>5/8 h</a:t>
            </a:r>
          </a:p>
        </p:txBody>
      </p:sp>
      <p:sp>
        <p:nvSpPr>
          <p:cNvPr id="29" name="mvp-bar-0-0">
            <a:extLst xmlns:a="http://schemas.openxmlformats.org/drawingml/2006/main">
              <a:ext uri="{FF2B5EF4-FFF2-40B4-BE49-F238E27FC236}">
                <a16:creationId xmlns:a16="http://schemas.microsoft.com/office/drawing/2014/main" id="{6D2B9F1B-B255-49DA-B514-42A4418F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257550"/>
            <a:ext cx="1123950" cy="400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4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mvp-bar-0-1">
            <a:extLst xmlns:a="http://schemas.openxmlformats.org/drawingml/2006/main">
              <a:ext uri="{FF2B5EF4-FFF2-40B4-BE49-F238E27FC236}">
                <a16:creationId xmlns:a16="http://schemas.microsoft.com/office/drawing/2014/main" id="{EC78B60D-CA84-4C16-8F35-6BD1D4F3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781425"/>
            <a:ext cx="1123950" cy="285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4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mvp-accent-0-0">
            <a:extLst xmlns:a="http://schemas.openxmlformats.org/drawingml/2006/main">
              <a:ext uri="{FF2B5EF4-FFF2-40B4-BE49-F238E27FC236}">
                <a16:creationId xmlns:a16="http://schemas.microsoft.com/office/drawing/2014/main" id="{79EFF546-1B88-4801-8A77-7A69C34C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257550"/>
            <a:ext cx="381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B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mvp-accent-0-1">
            <a:extLst xmlns:a="http://schemas.openxmlformats.org/drawingml/2006/main">
              <a:ext uri="{FF2B5EF4-FFF2-40B4-BE49-F238E27FC236}">
                <a16:creationId xmlns:a16="http://schemas.microsoft.com/office/drawing/2014/main" id="{50751C97-D481-4F55-8517-BDE6AC55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781425"/>
            <a:ext cx="38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1A7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mvp-day-1">
            <a:extLst xmlns:a="http://schemas.openxmlformats.org/drawingml/2006/main">
              <a:ext uri="{FF2B5EF4-FFF2-40B4-BE49-F238E27FC236}">
                <a16:creationId xmlns:a16="http://schemas.microsoft.com/office/drawing/2014/main" id="{BC9D56A7-C254-4CB4-AB0B-A286D6F7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724150"/>
            <a:ext cx="1352550" cy="1952625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1B1F25"/>
          </a:solidFill>
          <a:ln xmlns:a="http://schemas.openxmlformats.org/drawingml/2006/main" w="9525">
            <a:solidFill>
              <a:srgbClr val="EF8879"/>
            </a:solidFill>
            <a:prstDash val="solid"/>
          </a:ln>
        </p:spPr>
      </p:sp>
      <p:sp>
        <p:nvSpPr>
          <p:cNvPr id="34" name="mvp-day-h-1">
            <a:extLst xmlns:a="http://schemas.openxmlformats.org/drawingml/2006/main">
              <a:ext uri="{FF2B5EF4-FFF2-40B4-BE49-F238E27FC236}">
                <a16:creationId xmlns:a16="http://schemas.microsoft.com/office/drawing/2014/main" id="{0D3C8D83-9425-48E8-8B81-B4EF2A1E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8575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35" name="mvp-load-1">
            <a:extLst xmlns:a="http://schemas.openxmlformats.org/drawingml/2006/main">
              <a:ext uri="{FF2B5EF4-FFF2-40B4-BE49-F238E27FC236}">
                <a16:creationId xmlns:a16="http://schemas.microsoft.com/office/drawing/2014/main" id="{C84697B6-3AC3-42EA-92A1-2AA9C004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8575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EF8879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F8879"/>
                </a:solidFill>
                <a:latin typeface="Aptos"/>
                <a:ea typeface="Aptos"/>
                <a:cs typeface="Aptos"/>
              </a:rPr>
              <a:t>11/8 h</a:t>
            </a:r>
          </a:p>
        </p:txBody>
      </p:sp>
      <p:sp>
        <p:nvSpPr>
          <p:cNvPr id="36" name="mvp-bar-1-0">
            <a:extLst xmlns:a="http://schemas.openxmlformats.org/drawingml/2006/main">
              <a:ext uri="{FF2B5EF4-FFF2-40B4-BE49-F238E27FC236}">
                <a16:creationId xmlns:a16="http://schemas.microsoft.com/office/drawing/2014/main" id="{CA5D92ED-2404-4CB1-A3CA-A185DABF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219450"/>
            <a:ext cx="1123950" cy="4953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24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mvp-bar-1-1">
            <a:extLst xmlns:a="http://schemas.openxmlformats.org/drawingml/2006/main">
              <a:ext uri="{FF2B5EF4-FFF2-40B4-BE49-F238E27FC236}">
                <a16:creationId xmlns:a16="http://schemas.microsoft.com/office/drawing/2014/main" id="{C0332550-D1AB-49CA-B98E-52F01AE3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790950"/>
            <a:ext cx="1123950" cy="5334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24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mvp-bar-1-2">
            <a:extLst xmlns:a="http://schemas.openxmlformats.org/drawingml/2006/main">
              <a:ext uri="{FF2B5EF4-FFF2-40B4-BE49-F238E27FC236}">
                <a16:creationId xmlns:a16="http://schemas.microsoft.com/office/drawing/2014/main" id="{C8F8DFC7-4CB7-49BB-9FFB-BC0AE86A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400550"/>
            <a:ext cx="1123950" cy="190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24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mvp-accent-1-0">
            <a:extLst xmlns:a="http://schemas.openxmlformats.org/drawingml/2006/main">
              <a:ext uri="{FF2B5EF4-FFF2-40B4-BE49-F238E27FC236}">
                <a16:creationId xmlns:a16="http://schemas.microsoft.com/office/drawing/2014/main" id="{F9C37D8D-9E7F-4DEB-AAC3-0F4FEE35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219450"/>
            <a:ext cx="381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6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mvp-accent-1-1">
            <a:extLst xmlns:a="http://schemas.openxmlformats.org/drawingml/2006/main">
              <a:ext uri="{FF2B5EF4-FFF2-40B4-BE49-F238E27FC236}">
                <a16:creationId xmlns:a16="http://schemas.microsoft.com/office/drawing/2014/main" id="{A47B2684-8A0D-4356-8A61-5C2A8437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790950"/>
            <a:ext cx="381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88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mvp-accent-1-2">
            <a:extLst xmlns:a="http://schemas.openxmlformats.org/drawingml/2006/main">
              <a:ext uri="{FF2B5EF4-FFF2-40B4-BE49-F238E27FC236}">
                <a16:creationId xmlns:a16="http://schemas.microsoft.com/office/drawing/2014/main" id="{F722289A-7BFE-4F01-8DA7-1BBD1922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400550"/>
            <a:ext cx="381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B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mvp-day-2">
            <a:extLst xmlns:a="http://schemas.openxmlformats.org/drawingml/2006/main">
              <a:ext uri="{FF2B5EF4-FFF2-40B4-BE49-F238E27FC236}">
                <a16:creationId xmlns:a16="http://schemas.microsoft.com/office/drawing/2014/main" id="{A2585FD0-3F16-4E83-B1E1-D6B81AB3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724150"/>
            <a:ext cx="1352550" cy="1952625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1B1F25"/>
          </a:solidFill>
          <a:ln xmlns:a="http://schemas.openxmlformats.org/drawingml/2006/main" w="9525">
            <a:solidFill>
              <a:srgbClr val="3B424D"/>
            </a:solidFill>
            <a:prstDash val="solid"/>
          </a:ln>
        </p:spPr>
      </p:sp>
      <p:sp>
        <p:nvSpPr>
          <p:cNvPr id="43" name="mvp-day-h-2">
            <a:extLst xmlns:a="http://schemas.openxmlformats.org/drawingml/2006/main">
              <a:ext uri="{FF2B5EF4-FFF2-40B4-BE49-F238E27FC236}">
                <a16:creationId xmlns:a16="http://schemas.microsoft.com/office/drawing/2014/main" id="{E85F5C09-B2F8-4071-8DE7-8215B39D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8575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44" name="mvp-load-2">
            <a:extLst xmlns:a="http://schemas.openxmlformats.org/drawingml/2006/main">
              <a:ext uri="{FF2B5EF4-FFF2-40B4-BE49-F238E27FC236}">
                <a16:creationId xmlns:a16="http://schemas.microsoft.com/office/drawing/2014/main" id="{6DE169D9-3261-4000-9975-523AC66B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8575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8AFB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8AFB9"/>
                </a:solidFill>
                <a:latin typeface="Aptos"/>
                <a:ea typeface="Aptos"/>
                <a:cs typeface="Aptos"/>
              </a:rPr>
              <a:t>6/8 h</a:t>
            </a:r>
          </a:p>
        </p:txBody>
      </p:sp>
      <p:sp>
        <p:nvSpPr>
          <p:cNvPr id="45" name="mvp-bar-2-0">
            <a:extLst xmlns:a="http://schemas.openxmlformats.org/drawingml/2006/main">
              <a:ext uri="{FF2B5EF4-FFF2-40B4-BE49-F238E27FC236}">
                <a16:creationId xmlns:a16="http://schemas.microsoft.com/office/drawing/2014/main" id="{3FE8EF8E-992F-4C9E-92C6-CFDF96F2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257550"/>
            <a:ext cx="1123950" cy="400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4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mvp-bar-2-1">
            <a:extLst xmlns:a="http://schemas.openxmlformats.org/drawingml/2006/main">
              <a:ext uri="{FF2B5EF4-FFF2-40B4-BE49-F238E27FC236}">
                <a16:creationId xmlns:a16="http://schemas.microsoft.com/office/drawing/2014/main" id="{C58ADF00-EDA5-4763-BC1F-66A56807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781425"/>
            <a:ext cx="1123950" cy="285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4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mvp-accent-2-0">
            <a:extLst xmlns:a="http://schemas.openxmlformats.org/drawingml/2006/main">
              <a:ext uri="{FF2B5EF4-FFF2-40B4-BE49-F238E27FC236}">
                <a16:creationId xmlns:a16="http://schemas.microsoft.com/office/drawing/2014/main" id="{B08344DC-CB81-4CFE-A36C-0D6048ED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257550"/>
            <a:ext cx="381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B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mvp-accent-2-1">
            <a:extLst xmlns:a="http://schemas.openxmlformats.org/drawingml/2006/main">
              <a:ext uri="{FF2B5EF4-FFF2-40B4-BE49-F238E27FC236}">
                <a16:creationId xmlns:a16="http://schemas.microsoft.com/office/drawing/2014/main" id="{3E98D7B9-2DC7-4902-A700-5178FC73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781425"/>
            <a:ext cx="38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1A7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mvp-day-3">
            <a:extLst xmlns:a="http://schemas.openxmlformats.org/drawingml/2006/main">
              <a:ext uri="{FF2B5EF4-FFF2-40B4-BE49-F238E27FC236}">
                <a16:creationId xmlns:a16="http://schemas.microsoft.com/office/drawing/2014/main" id="{64AE9902-D751-4B02-8B18-A73676C6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724150"/>
            <a:ext cx="1352550" cy="1952625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1B1F25"/>
          </a:solidFill>
          <a:ln xmlns:a="http://schemas.openxmlformats.org/drawingml/2006/main" w="9525">
            <a:solidFill>
              <a:srgbClr val="3B424D"/>
            </a:solidFill>
            <a:prstDash val="solid"/>
          </a:ln>
        </p:spPr>
      </p:sp>
      <p:sp>
        <p:nvSpPr>
          <p:cNvPr id="50" name="mvp-day-h-3">
            <a:extLst xmlns:a="http://schemas.openxmlformats.org/drawingml/2006/main">
              <a:ext uri="{FF2B5EF4-FFF2-40B4-BE49-F238E27FC236}">
                <a16:creationId xmlns:a16="http://schemas.microsoft.com/office/drawing/2014/main" id="{A08F1B16-0ADF-43CB-9590-F14DC273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8575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51" name="mvp-load-3">
            <a:extLst xmlns:a="http://schemas.openxmlformats.org/drawingml/2006/main">
              <a:ext uri="{FF2B5EF4-FFF2-40B4-BE49-F238E27FC236}">
                <a16:creationId xmlns:a16="http://schemas.microsoft.com/office/drawing/2014/main" id="{B8273FBB-BF04-42E4-BDF9-9EC7B786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8575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8AFB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8AFB9"/>
                </a:solidFill>
                <a:latin typeface="Aptos"/>
                <a:ea typeface="Aptos"/>
                <a:cs typeface="Aptos"/>
              </a:rPr>
              <a:t>4/8 h</a:t>
            </a:r>
          </a:p>
        </p:txBody>
      </p:sp>
      <p:sp>
        <p:nvSpPr>
          <p:cNvPr id="52" name="mvp-bar-3-0">
            <a:extLst xmlns:a="http://schemas.openxmlformats.org/drawingml/2006/main">
              <a:ext uri="{FF2B5EF4-FFF2-40B4-BE49-F238E27FC236}">
                <a16:creationId xmlns:a16="http://schemas.microsoft.com/office/drawing/2014/main" id="{D47DF79B-AFF6-43B3-BE83-4C7542D7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257550"/>
            <a:ext cx="1123950" cy="400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4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mvp-bar-3-1">
            <a:extLst xmlns:a="http://schemas.openxmlformats.org/drawingml/2006/main">
              <a:ext uri="{FF2B5EF4-FFF2-40B4-BE49-F238E27FC236}">
                <a16:creationId xmlns:a16="http://schemas.microsoft.com/office/drawing/2014/main" id="{E8A13A49-4708-486F-8BBE-FB106BAF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781425"/>
            <a:ext cx="1123950" cy="285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4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mvp-accent-3-0">
            <a:extLst xmlns:a="http://schemas.openxmlformats.org/drawingml/2006/main">
              <a:ext uri="{FF2B5EF4-FFF2-40B4-BE49-F238E27FC236}">
                <a16:creationId xmlns:a16="http://schemas.microsoft.com/office/drawing/2014/main" id="{9C8CC2A3-4122-41A4-A8AC-A822159B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257550"/>
            <a:ext cx="381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5A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mvp-accent-3-1">
            <a:extLst xmlns:a="http://schemas.openxmlformats.org/drawingml/2006/main">
              <a:ext uri="{FF2B5EF4-FFF2-40B4-BE49-F238E27FC236}">
                <a16:creationId xmlns:a16="http://schemas.microsoft.com/office/drawing/2014/main" id="{34974087-AE50-4D2A-A698-656FA6CF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781425"/>
            <a:ext cx="38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1A7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mvp-day-4">
            <a:extLst xmlns:a="http://schemas.openxmlformats.org/drawingml/2006/main">
              <a:ext uri="{FF2B5EF4-FFF2-40B4-BE49-F238E27FC236}">
                <a16:creationId xmlns:a16="http://schemas.microsoft.com/office/drawing/2014/main" id="{1FDB2852-D861-4135-BA46-9889DE76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724150"/>
            <a:ext cx="1352550" cy="1952625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1B1F25"/>
          </a:solidFill>
          <a:ln xmlns:a="http://schemas.openxmlformats.org/drawingml/2006/main" w="9525">
            <a:solidFill>
              <a:srgbClr val="3B424D"/>
            </a:solidFill>
            <a:prstDash val="solid"/>
          </a:ln>
        </p:spPr>
      </p:sp>
      <p:sp>
        <p:nvSpPr>
          <p:cNvPr id="57" name="mvp-day-h-4">
            <a:extLst xmlns:a="http://schemas.openxmlformats.org/drawingml/2006/main">
              <a:ext uri="{FF2B5EF4-FFF2-40B4-BE49-F238E27FC236}">
                <a16:creationId xmlns:a16="http://schemas.microsoft.com/office/drawing/2014/main" id="{F4F41093-5071-4C1A-8647-37CEBD1F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8575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58" name="mvp-load-4">
            <a:extLst xmlns:a="http://schemas.openxmlformats.org/drawingml/2006/main">
              <a:ext uri="{FF2B5EF4-FFF2-40B4-BE49-F238E27FC236}">
                <a16:creationId xmlns:a16="http://schemas.microsoft.com/office/drawing/2014/main" id="{55541B15-46E2-4739-9560-441BC69C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8575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8AFB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8AFB9"/>
                </a:solidFill>
                <a:latin typeface="Aptos"/>
                <a:ea typeface="Aptos"/>
                <a:cs typeface="Aptos"/>
              </a:rPr>
              <a:t>3/8 h</a:t>
            </a:r>
          </a:p>
        </p:txBody>
      </p:sp>
      <p:sp>
        <p:nvSpPr>
          <p:cNvPr id="59" name="mvp-bar-4-0">
            <a:extLst xmlns:a="http://schemas.openxmlformats.org/drawingml/2006/main">
              <a:ext uri="{FF2B5EF4-FFF2-40B4-BE49-F238E27FC236}">
                <a16:creationId xmlns:a16="http://schemas.microsoft.com/office/drawing/2014/main" id="{04D0EB1F-7BBD-4803-ACAB-11B4C464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257550"/>
            <a:ext cx="1123950" cy="400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4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mvp-bar-4-1">
            <a:extLst xmlns:a="http://schemas.openxmlformats.org/drawingml/2006/main">
              <a:ext uri="{FF2B5EF4-FFF2-40B4-BE49-F238E27FC236}">
                <a16:creationId xmlns:a16="http://schemas.microsoft.com/office/drawing/2014/main" id="{E58BD917-517F-4B98-A48B-6B4114F4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781425"/>
            <a:ext cx="1123950" cy="285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4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mvp-accent-4-0">
            <a:extLst xmlns:a="http://schemas.openxmlformats.org/drawingml/2006/main">
              <a:ext uri="{FF2B5EF4-FFF2-40B4-BE49-F238E27FC236}">
                <a16:creationId xmlns:a16="http://schemas.microsoft.com/office/drawing/2014/main" id="{E520065F-FDC7-4F72-813F-19CF2B5D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257550"/>
            <a:ext cx="381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B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mvp-accent-4-1">
            <a:extLst xmlns:a="http://schemas.openxmlformats.org/drawingml/2006/main">
              <a:ext uri="{FF2B5EF4-FFF2-40B4-BE49-F238E27FC236}">
                <a16:creationId xmlns:a16="http://schemas.microsoft.com/office/drawing/2014/main" id="{9472C9A9-5510-4BB0-A195-A38D464E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781425"/>
            <a:ext cx="38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1A7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mvp-result">
            <a:extLst xmlns:a="http://schemas.openxmlformats.org/drawingml/2006/main">
              <a:ext uri="{FF2B5EF4-FFF2-40B4-BE49-F238E27FC236}">
                <a16:creationId xmlns:a16="http://schemas.microsoft.com/office/drawing/2014/main" id="{683F8FBE-AD83-497C-806A-F3BB311A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895850"/>
            <a:ext cx="7581900" cy="8382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B1F25"/>
          </a:solidFill>
          <a:ln xmlns:a="http://schemas.openxmlformats.org/drawingml/2006/main" w="9525">
            <a:solidFill>
              <a:srgbClr val="61A77B"/>
            </a:solidFill>
            <a:prstDash val="solid"/>
          </a:ln>
        </p:spPr>
      </p:sp>
      <p:sp>
        <p:nvSpPr>
          <p:cNvPr id="64" name="mvp-result-title">
            <a:extLst xmlns:a="http://schemas.openxmlformats.org/drawingml/2006/main">
              <a:ext uri="{FF2B5EF4-FFF2-40B4-BE49-F238E27FC236}">
                <a16:creationId xmlns:a16="http://schemas.microsoft.com/office/drawing/2014/main" id="{AD0D0316-A24C-417F-92BD-6CFC9E18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0673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Plan viable confirmado</a:t>
            </a:r>
          </a:p>
        </p:txBody>
      </p:sp>
      <p:sp>
        <p:nvSpPr>
          <p:cNvPr id="65" name="mvp-result-copy">
            <a:extLst xmlns:a="http://schemas.openxmlformats.org/drawingml/2006/main">
              <a:ext uri="{FF2B5EF4-FFF2-40B4-BE49-F238E27FC236}">
                <a16:creationId xmlns:a16="http://schemas.microsoft.com/office/drawing/2014/main" id="{09D90EE3-2E8E-451A-ADDC-DEE76359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314950"/>
            <a:ext cx="521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AFB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AFB9"/>
                </a:solidFill>
                <a:latin typeface="Aptos"/>
                <a:ea typeface="Aptos"/>
                <a:cs typeface="Aptos"/>
              </a:rPr>
              <a:t>La prueba mantiene un bloque antes del plazo y no quedan días sobrecargados.</a:t>
            </a:r>
          </a:p>
        </p:txBody>
      </p:sp>
      <p:sp>
        <p:nvSpPr>
          <p:cNvPr id="66" name="mvp-apply">
            <a:extLst xmlns:a="http://schemas.openxmlformats.org/drawingml/2006/main">
              <a:ext uri="{FF2B5EF4-FFF2-40B4-BE49-F238E27FC236}">
                <a16:creationId xmlns:a16="http://schemas.microsoft.com/office/drawing/2014/main" id="{60726804-C332-4110-B1DC-BFBB4E67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114925"/>
            <a:ext cx="14287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61A7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mvp-apply-t">
            <a:extLst xmlns:a="http://schemas.openxmlformats.org/drawingml/2006/main">
              <a:ext uri="{FF2B5EF4-FFF2-40B4-BE49-F238E27FC236}">
                <a16:creationId xmlns:a16="http://schemas.microsoft.com/office/drawing/2014/main" id="{8F711B00-2A0F-4F05-ACA3-769FECE0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229225"/>
            <a:ext cx="1143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8170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8170E"/>
                </a:solidFill>
                <a:latin typeface="Aptos"/>
                <a:ea typeface="Aptos"/>
                <a:cs typeface="Aptos"/>
              </a:rPr>
              <a:t>Aplicar propuesta</a:t>
            </a:r>
          </a:p>
        </p:txBody>
      </p:sp>
      <p:sp>
        <p:nvSpPr>
          <p:cNvPr id="68" name="mvp-caption">
            <a:extLst xmlns:a="http://schemas.openxmlformats.org/drawingml/2006/main">
              <a:ext uri="{FF2B5EF4-FFF2-40B4-BE49-F238E27FC236}">
                <a16:creationId xmlns:a16="http://schemas.microsoft.com/office/drawing/2014/main" id="{5D6283BE-56A1-4F96-B6E9-58B012D3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6096000"/>
            <a:ext cx="2724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9616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16B"/>
                </a:solidFill>
                <a:latin typeface="Aptos"/>
                <a:ea typeface="Aptos"/>
                <a:cs typeface="Aptos"/>
              </a:rPr>
              <a:t>Reconstrucción editable de la interfaz real del MVP v0.2</a:t>
            </a:r>
          </a:p>
        </p:txBody>
      </p:sp>
    </p:spTree>
    <p:extLst>
      <p:ext uri="{BB962C8B-B14F-4D97-AF65-F5344CB8AC3E}">
        <p14:creationId xmlns:p14="http://schemas.microsoft.com/office/powerpoint/2010/main" val="10154731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kicker-4">
            <a:extLst xmlns:a="http://schemas.openxmlformats.org/drawingml/2006/main">
              <a:ext uri="{FF2B5EF4-FFF2-40B4-BE49-F238E27FC236}">
                <a16:creationId xmlns:a16="http://schemas.microsoft.com/office/drawing/2014/main" id="{909995E1-D72A-4DCC-A3A7-F8921C35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7B8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7B85B"/>
                </a:solidFill>
                <a:latin typeface="Aptos"/>
                <a:ea typeface="Aptos"/>
                <a:cs typeface="Aptos"/>
              </a:rPr>
              <a:t>EXPERIMENTO EXP-01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FFE7AF13-919D-4824-A4C5-2193EE02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839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La primera señal conductual cumplió el umbral, justo.</a:t>
            </a:r>
          </a:p>
        </p:txBody>
      </p:sp>
      <p:sp>
        <p:nvSpPr>
          <p:cNvPr id="3" name="num-4">
            <a:extLst xmlns:a="http://schemas.openxmlformats.org/drawingml/2006/main">
              <a:ext uri="{FF2B5EF4-FFF2-40B4-BE49-F238E27FC236}">
                <a16:creationId xmlns:a16="http://schemas.microsoft.com/office/drawing/2014/main" id="{B10B6C63-BA1B-45EF-A0AD-8114D888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8AFB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8AFB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metric-5/5-52">
            <a:extLst xmlns:a="http://schemas.openxmlformats.org/drawingml/2006/main">
              <a:ext uri="{FF2B5EF4-FFF2-40B4-BE49-F238E27FC236}">
                <a16:creationId xmlns:a16="http://schemas.microsoft.com/office/drawing/2014/main" id="{C949ED8F-0FA2-45F1-81B6-64EF2B66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2476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1B1F25"/>
          </a:solidFill>
          <a:ln xmlns:a="http://schemas.openxmlformats.org/drawingml/2006/main" w="9525">
            <a:solidFill>
              <a:srgbClr val="3B424D"/>
            </a:solidFill>
            <a:prstDash val="solid"/>
          </a:ln>
        </p:spPr>
      </p:sp>
      <p:sp>
        <p:nvSpPr>
          <p:cNvPr id="5" name="metric-accent-5/5-52">
            <a:extLst xmlns:a="http://schemas.openxmlformats.org/drawingml/2006/main">
              <a:ext uri="{FF2B5EF4-FFF2-40B4-BE49-F238E27FC236}">
                <a16:creationId xmlns:a16="http://schemas.microsoft.com/office/drawing/2014/main" id="{D38EC1AA-F82D-4DF6-A8B3-74AFD54D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76200" cy="1695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1A7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ric-value-5/5-52">
            <a:extLst xmlns:a="http://schemas.openxmlformats.org/drawingml/2006/main">
              <a:ext uri="{FF2B5EF4-FFF2-40B4-BE49-F238E27FC236}">
                <a16:creationId xmlns:a16="http://schemas.microsoft.com/office/drawing/2014/main" id="{4BC71D52-7EC6-4B5D-A81D-78D79CE8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981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5/5</a:t>
            </a:r>
          </a:p>
        </p:txBody>
      </p:sp>
      <p:sp>
        <p:nvSpPr>
          <p:cNvPr id="7" name="metric-label-5/5-52">
            <a:extLst xmlns:a="http://schemas.openxmlformats.org/drawingml/2006/main">
              <a:ext uri="{FF2B5EF4-FFF2-40B4-BE49-F238E27FC236}">
                <a16:creationId xmlns:a16="http://schemas.microsoft.com/office/drawing/2014/main" id="{03880FC3-83AE-4111-9F30-2FEDF037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19350"/>
            <a:ext cx="198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AFB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8AFB9"/>
                </a:solidFill>
                <a:latin typeface="Aptos"/>
                <a:ea typeface="Aptos"/>
                <a:cs typeface="Aptos"/>
              </a:rPr>
              <a:t>completaron la tarea</a:t>
            </a:r>
          </a:p>
        </p:txBody>
      </p:sp>
      <p:sp>
        <p:nvSpPr>
          <p:cNvPr id="8" name="metric-4/5-340">
            <a:extLst xmlns:a="http://schemas.openxmlformats.org/drawingml/2006/main">
              <a:ext uri="{FF2B5EF4-FFF2-40B4-BE49-F238E27FC236}">
                <a16:creationId xmlns:a16="http://schemas.microsoft.com/office/drawing/2014/main" id="{5FCFB081-B57F-4577-974A-77EA9739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2476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1B1F25"/>
          </a:solidFill>
          <a:ln xmlns:a="http://schemas.openxmlformats.org/drawingml/2006/main" w="9525">
            <a:solidFill>
              <a:srgbClr val="3B424D"/>
            </a:solidFill>
            <a:prstDash val="solid"/>
          </a:ln>
        </p:spPr>
      </p:sp>
      <p:sp>
        <p:nvSpPr>
          <p:cNvPr id="9" name="metric-accent-4/5-340">
            <a:extLst xmlns:a="http://schemas.openxmlformats.org/drawingml/2006/main">
              <a:ext uri="{FF2B5EF4-FFF2-40B4-BE49-F238E27FC236}">
                <a16:creationId xmlns:a16="http://schemas.microsoft.com/office/drawing/2014/main" id="{AC9E64AE-78C0-40DA-A7AD-2F10597A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6200" cy="1695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5A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ric-value-4/5-340">
            <a:extLst xmlns:a="http://schemas.openxmlformats.org/drawingml/2006/main">
              <a:ext uri="{FF2B5EF4-FFF2-40B4-BE49-F238E27FC236}">
                <a16:creationId xmlns:a16="http://schemas.microsoft.com/office/drawing/2014/main" id="{BD60F3AA-267A-4D7D-99EB-FD31549F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52600"/>
            <a:ext cx="1981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4/5</a:t>
            </a:r>
          </a:p>
        </p:txBody>
      </p:sp>
      <p:sp>
        <p:nvSpPr>
          <p:cNvPr id="11" name="metric-label-4/5-340">
            <a:extLst xmlns:a="http://schemas.openxmlformats.org/drawingml/2006/main">
              <a:ext uri="{FF2B5EF4-FFF2-40B4-BE49-F238E27FC236}">
                <a16:creationId xmlns:a16="http://schemas.microsoft.com/office/drawing/2014/main" id="{107EA399-5510-453D-A0E9-86B829B0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19350"/>
            <a:ext cx="198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AFB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8AFB9"/>
                </a:solidFill>
                <a:latin typeface="Aptos"/>
                <a:ea typeface="Aptos"/>
                <a:cs typeface="Aptos"/>
              </a:rPr>
              <a:t>terminaron sin ayuda</a:t>
            </a:r>
          </a:p>
        </p:txBody>
      </p:sp>
      <p:sp>
        <p:nvSpPr>
          <p:cNvPr id="12" name="metric-3/5-628">
            <a:extLst xmlns:a="http://schemas.openxmlformats.org/drawingml/2006/main">
              <a:ext uri="{FF2B5EF4-FFF2-40B4-BE49-F238E27FC236}">
                <a16:creationId xmlns:a16="http://schemas.microsoft.com/office/drawing/2014/main" id="{2EB4A45B-6687-4FA9-AF83-9914D100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524000"/>
            <a:ext cx="2476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1B1F25"/>
          </a:solidFill>
          <a:ln xmlns:a="http://schemas.openxmlformats.org/drawingml/2006/main" w="9525">
            <a:solidFill>
              <a:srgbClr val="3B424D"/>
            </a:solidFill>
            <a:prstDash val="solid"/>
          </a:ln>
        </p:spPr>
      </p:sp>
      <p:sp>
        <p:nvSpPr>
          <p:cNvPr id="13" name="metric-accent-3/5-628">
            <a:extLst xmlns:a="http://schemas.openxmlformats.org/drawingml/2006/main">
              <a:ext uri="{FF2B5EF4-FFF2-40B4-BE49-F238E27FC236}">
                <a16:creationId xmlns:a16="http://schemas.microsoft.com/office/drawing/2014/main" id="{620DADD5-5AE1-40F5-A9F0-7C3908D7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524000"/>
            <a:ext cx="76200" cy="1695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B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etric-value-3/5-628">
            <a:extLst xmlns:a="http://schemas.openxmlformats.org/drawingml/2006/main">
              <a:ext uri="{FF2B5EF4-FFF2-40B4-BE49-F238E27FC236}">
                <a16:creationId xmlns:a16="http://schemas.microsoft.com/office/drawing/2014/main" id="{48EED9D2-494C-4F20-A7D3-61C590A5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52600"/>
            <a:ext cx="1981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3/5</a:t>
            </a:r>
          </a:p>
        </p:txBody>
      </p:sp>
      <p:sp>
        <p:nvSpPr>
          <p:cNvPr id="15" name="metric-label-3/5-628">
            <a:extLst xmlns:a="http://schemas.openxmlformats.org/drawingml/2006/main">
              <a:ext uri="{FF2B5EF4-FFF2-40B4-BE49-F238E27FC236}">
                <a16:creationId xmlns:a16="http://schemas.microsoft.com/office/drawing/2014/main" id="{FCB25E9D-9A7D-46E3-9EAA-FA7B7C99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19350"/>
            <a:ext cx="198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AFB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8AFB9"/>
                </a:solidFill>
                <a:latin typeface="Aptos"/>
                <a:ea typeface="Aptos"/>
                <a:cs typeface="Aptos"/>
              </a:rPr>
              <a:t>sin ayuda en ≤3 min</a:t>
            </a:r>
          </a:p>
        </p:txBody>
      </p:sp>
      <p:sp>
        <p:nvSpPr>
          <p:cNvPr id="16" name="metric-2:51-916">
            <a:extLst xmlns:a="http://schemas.openxmlformats.org/drawingml/2006/main">
              <a:ext uri="{FF2B5EF4-FFF2-40B4-BE49-F238E27FC236}">
                <a16:creationId xmlns:a16="http://schemas.microsoft.com/office/drawing/2014/main" id="{DF9B94CA-7BFA-4625-BF41-38647480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524000"/>
            <a:ext cx="25146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1B1F25"/>
          </a:solidFill>
          <a:ln xmlns:a="http://schemas.openxmlformats.org/drawingml/2006/main" w="9525">
            <a:solidFill>
              <a:srgbClr val="3B424D"/>
            </a:solidFill>
            <a:prstDash val="solid"/>
          </a:ln>
        </p:spPr>
      </p:sp>
      <p:sp>
        <p:nvSpPr>
          <p:cNvPr id="17" name="metric-accent-2:51-916">
            <a:extLst xmlns:a="http://schemas.openxmlformats.org/drawingml/2006/main">
              <a:ext uri="{FF2B5EF4-FFF2-40B4-BE49-F238E27FC236}">
                <a16:creationId xmlns:a16="http://schemas.microsoft.com/office/drawing/2014/main" id="{E1DAA983-6DEC-43AF-80BA-FDD16071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524000"/>
            <a:ext cx="76200" cy="1695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6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etric-value-2:51-916">
            <a:extLst xmlns:a="http://schemas.openxmlformats.org/drawingml/2006/main">
              <a:ext uri="{FF2B5EF4-FFF2-40B4-BE49-F238E27FC236}">
                <a16:creationId xmlns:a16="http://schemas.microsoft.com/office/drawing/2014/main" id="{A4B38321-CB89-4785-A61A-6645522D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5260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2:51</a:t>
            </a:r>
          </a:p>
        </p:txBody>
      </p:sp>
      <p:sp>
        <p:nvSpPr>
          <p:cNvPr id="19" name="metric-label-2:51-916">
            <a:extLst xmlns:a="http://schemas.openxmlformats.org/drawingml/2006/main">
              <a:ext uri="{FF2B5EF4-FFF2-40B4-BE49-F238E27FC236}">
                <a16:creationId xmlns:a16="http://schemas.microsoft.com/office/drawing/2014/main" id="{86AF65D3-FAB3-4A6D-A03F-C2F1A2CF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19350"/>
            <a:ext cx="201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AFB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8AFB9"/>
                </a:solidFill>
                <a:latin typeface="Aptos"/>
                <a:ea typeface="Aptos"/>
                <a:cs typeface="Aptos"/>
              </a:rPr>
              <a:t>tiempo promedio</a:t>
            </a:r>
          </a:p>
        </p:txBody>
      </p:sp>
      <p:sp>
        <p:nvSpPr>
          <p:cNvPr id="20" name="threshold-label">
            <a:extLst xmlns:a="http://schemas.openxmlformats.org/drawingml/2006/main">
              <a:ext uri="{FF2B5EF4-FFF2-40B4-BE49-F238E27FC236}">
                <a16:creationId xmlns:a16="http://schemas.microsoft.com/office/drawing/2014/main" id="{DE7F3595-2839-4843-B273-3F38F8C9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7B8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7B85B"/>
                </a:solidFill>
                <a:latin typeface="Aptos"/>
                <a:ea typeface="Aptos"/>
                <a:cs typeface="Aptos"/>
              </a:rPr>
              <a:t>CRITERIO DE ÉXITO</a:t>
            </a:r>
          </a:p>
        </p:txBody>
      </p:sp>
      <p:sp>
        <p:nvSpPr>
          <p:cNvPr id="21" name="threshold-copy">
            <a:extLst xmlns:a="http://schemas.openxmlformats.org/drawingml/2006/main">
              <a:ext uri="{FF2B5EF4-FFF2-40B4-BE49-F238E27FC236}">
                <a16:creationId xmlns:a16="http://schemas.microsoft.com/office/drawing/2014/main" id="{1C8DB6DF-973F-4F68-9BAD-6C2AB012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19550"/>
            <a:ext cx="493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≥60% sin ayuda y en menos de 3 minutos</a:t>
            </a:r>
          </a:p>
        </p:txBody>
      </p:sp>
      <p:sp>
        <p:nvSpPr>
          <p:cNvPr id="22" name="bar-bg">
            <a:extLst xmlns:a="http://schemas.openxmlformats.org/drawingml/2006/main">
              <a:ext uri="{FF2B5EF4-FFF2-40B4-BE49-F238E27FC236}">
                <a16:creationId xmlns:a16="http://schemas.microsoft.com/office/drawing/2014/main" id="{4396EA2F-E137-4C76-92AC-F3F12EC5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29150"/>
            <a:ext cx="7239000" cy="2667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4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ar-fill">
            <a:extLst xmlns:a="http://schemas.openxmlformats.org/drawingml/2006/main">
              <a:ext uri="{FF2B5EF4-FFF2-40B4-BE49-F238E27FC236}">
                <a16:creationId xmlns:a16="http://schemas.microsoft.com/office/drawing/2014/main" id="{9EB54943-EAB4-4B8B-BAC3-AC3477A5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29150"/>
            <a:ext cx="4343400" cy="2667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7B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ar-60">
            <a:extLst xmlns:a="http://schemas.openxmlformats.org/drawingml/2006/main">
              <a:ext uri="{FF2B5EF4-FFF2-40B4-BE49-F238E27FC236}">
                <a16:creationId xmlns:a16="http://schemas.microsoft.com/office/drawing/2014/main" id="{DA230E8B-F8D0-4998-8506-BAD39D1F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482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7B8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7B85B"/>
                </a:solidFill>
                <a:latin typeface="Aptos"/>
                <a:ea typeface="Aptos"/>
                <a:cs typeface="Aptos"/>
              </a:rPr>
              <a:t>60%</a:t>
            </a:r>
          </a:p>
        </p:txBody>
      </p:sp>
      <p:sp>
        <p:nvSpPr>
          <p:cNvPr id="25" name="friction-title">
            <a:extLst xmlns:a="http://schemas.openxmlformats.org/drawingml/2006/main">
              <a:ext uri="{FF2B5EF4-FFF2-40B4-BE49-F238E27FC236}">
                <a16:creationId xmlns:a16="http://schemas.microsoft.com/office/drawing/2014/main" id="{E95AD417-DA72-45D1-97F5-11FF1AC9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147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Lo que aprendimos</a:t>
            </a:r>
          </a:p>
        </p:txBody>
      </p:sp>
      <p:sp>
        <p:nvSpPr>
          <p:cNvPr id="26" name="friction-list">
            <a:extLst xmlns:a="http://schemas.openxmlformats.org/drawingml/2006/main">
              <a:ext uri="{FF2B5EF4-FFF2-40B4-BE49-F238E27FC236}">
                <a16:creationId xmlns:a16="http://schemas.microsoft.com/office/drawing/2014/main" id="{8D445FF3-3C8C-42FD-A03C-BCC4748B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67175"/>
            <a:ext cx="29337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AFB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AFB9"/>
                </a:solidFill>
                <a:latin typeface="Aptos"/>
                <a:ea typeface="Aptos"/>
                <a:cs typeface="Aptos"/>
              </a:rPr>
              <a:t>• La secuencia no era obvia</a:t>
            </a:r>
          </a:p>
          <a:p xmlns:a="http://schemas.openxmlformats.org/drawingml/2006/main">
            <a:pPr algn="l">
              <a:defRPr sz="1350" b="0">
                <a:solidFill>
                  <a:srgbClr val="A8AFB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AFB9"/>
                </a:solidFill>
                <a:latin typeface="Aptos"/>
                <a:ea typeface="Aptos"/>
                <a:cs typeface="Aptos"/>
              </a:rPr>
              <a:t>• Faltaba explicar el porqué</a:t>
            </a:r>
          </a:p>
          <a:p xmlns:a="http://schemas.openxmlformats.org/drawingml/2006/main">
            <a:pPr algn="l">
              <a:defRPr sz="1350" b="0">
                <a:solidFill>
                  <a:srgbClr val="A8AFB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AFB9"/>
                </a:solidFill>
                <a:latin typeface="Aptos"/>
                <a:ea typeface="Aptos"/>
                <a:cs typeface="Aptos"/>
              </a:rPr>
              <a:t>• El plazo debía verse siempre</a:t>
            </a:r>
          </a:p>
        </p:txBody>
      </p:sp>
      <p:sp>
        <p:nvSpPr>
          <p:cNvPr id="27" name="decision">
            <a:extLst xmlns:a="http://schemas.openxmlformats.org/drawingml/2006/main">
              <a:ext uri="{FF2B5EF4-FFF2-40B4-BE49-F238E27FC236}">
                <a16:creationId xmlns:a16="http://schemas.microsoft.com/office/drawing/2014/main" id="{803E4230-F44B-4182-8257-A59FED41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673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1A77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1A77B"/>
                </a:solidFill>
                <a:latin typeface="Aptos"/>
                <a:ea typeface="Aptos"/>
                <a:cs typeface="Aptos"/>
              </a:rPr>
              <a:t>Decisión: perseverar con el núcleo y rediseñar la guía.</a:t>
            </a:r>
          </a:p>
        </p:txBody>
      </p:sp>
      <p:sp>
        <p:nvSpPr>
          <p:cNvPr id="28" name="traction-note">
            <a:extLst xmlns:a="http://schemas.openxmlformats.org/drawingml/2006/main">
              <a:ext uri="{FF2B5EF4-FFF2-40B4-BE49-F238E27FC236}">
                <a16:creationId xmlns:a16="http://schemas.microsoft.com/office/drawing/2014/main" id="{C5485893-FB63-4D1C-880F-7854E280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626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AFB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AFB9"/>
                </a:solidFill>
                <a:latin typeface="Aptos"/>
                <a:ea typeface="Aptos"/>
                <a:cs typeface="Aptos"/>
              </a:rPr>
              <a:t>Evidencia temprana de uso; todavía no hay retención ni pagos observados.</a:t>
            </a:r>
          </a:p>
        </p:txBody>
      </p:sp>
    </p:spTree>
    <p:extLst>
      <p:ext uri="{BB962C8B-B14F-4D97-AF65-F5344CB8AC3E}">
        <p14:creationId xmlns:p14="http://schemas.microsoft.com/office/powerpoint/2010/main" val="8556727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-5">
            <a:extLst xmlns:a="http://schemas.openxmlformats.org/drawingml/2006/main">
              <a:ext uri="{FF2B5EF4-FFF2-40B4-BE49-F238E27FC236}">
                <a16:creationId xmlns:a16="http://schemas.microsoft.com/office/drawing/2014/main" id="{2DA81064-E6A5-4CD8-91AE-A383691C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36D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6D5B"/>
                </a:solidFill>
                <a:latin typeface="Aptos"/>
                <a:ea typeface="Aptos"/>
                <a:cs typeface="Aptos"/>
              </a:rPr>
              <a:t>MERCADO · BOTTOM-UP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38AFB60C-0321-4AFB-A928-B7052354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839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317"/>
                </a:solidFill>
                <a:latin typeface="Aptos"/>
                <a:ea typeface="Aptos"/>
                <a:cs typeface="Aptos"/>
              </a:rPr>
              <a:t>Empezamos con 343 mil estudiantes en Chile.</a:t>
            </a:r>
          </a:p>
        </p:txBody>
      </p:sp>
      <p:sp>
        <p:nvSpPr>
          <p:cNvPr id="3" name="num-5">
            <a:extLst xmlns:a="http://schemas.openxmlformats.org/drawingml/2006/main">
              <a:ext uri="{FF2B5EF4-FFF2-40B4-BE49-F238E27FC236}">
                <a16:creationId xmlns:a16="http://schemas.microsoft.com/office/drawing/2014/main" id="{D8285D53-4327-4024-8018-D10F49E2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9616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9616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tier-0">
            <a:extLst xmlns:a="http://schemas.openxmlformats.org/drawingml/2006/main">
              <a:ext uri="{FF2B5EF4-FFF2-40B4-BE49-F238E27FC236}">
                <a16:creationId xmlns:a16="http://schemas.microsoft.com/office/drawing/2014/main" id="{29566062-743D-44EF-9C1C-B08CD3F5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107442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7E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er-label-0">
            <a:extLst xmlns:a="http://schemas.openxmlformats.org/drawingml/2006/main">
              <a:ext uri="{FF2B5EF4-FFF2-40B4-BE49-F238E27FC236}">
                <a16:creationId xmlns:a16="http://schemas.microsoft.com/office/drawing/2014/main" id="{47A934BB-5D57-47ED-85C0-596D3747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317"/>
                </a:solidFill>
                <a:latin typeface="Aptos"/>
                <a:ea typeface="Aptos"/>
                <a:cs typeface="Aptos"/>
              </a:rPr>
              <a:t>TAM</a:t>
            </a:r>
          </a:p>
        </p:txBody>
      </p:sp>
      <p:sp>
        <p:nvSpPr>
          <p:cNvPr id="6" name="tier-users-0">
            <a:extLst xmlns:a="http://schemas.openxmlformats.org/drawingml/2006/main">
              <a:ext uri="{FF2B5EF4-FFF2-40B4-BE49-F238E27FC236}">
                <a16:creationId xmlns:a16="http://schemas.microsoft.com/office/drawing/2014/main" id="{C7213716-4B61-4A36-A5F5-1B85D3ED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7526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31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317"/>
                </a:solidFill>
                <a:latin typeface="Aptos"/>
                <a:ea typeface="Aptos"/>
                <a:cs typeface="Aptos"/>
              </a:rPr>
              <a:t>1.372.167</a:t>
            </a:r>
          </a:p>
        </p:txBody>
      </p:sp>
      <p:sp>
        <p:nvSpPr>
          <p:cNvPr id="7" name="tier-note-0">
            <a:extLst xmlns:a="http://schemas.openxmlformats.org/drawingml/2006/main">
              <a:ext uri="{FF2B5EF4-FFF2-40B4-BE49-F238E27FC236}">
                <a16:creationId xmlns:a16="http://schemas.microsoft.com/office/drawing/2014/main" id="{79F5F838-1D4C-4258-AA57-C149712F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1240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16B"/>
                </a:solidFill>
                <a:latin typeface="Aptos"/>
                <a:ea typeface="Aptos"/>
                <a:cs typeface="Aptos"/>
              </a:rPr>
              <a:t>pregrado Chile 2026</a:t>
            </a:r>
          </a:p>
        </p:txBody>
      </p:sp>
      <p:sp>
        <p:nvSpPr>
          <p:cNvPr id="8" name="tier-value-0">
            <a:extLst xmlns:a="http://schemas.openxmlformats.org/drawingml/2006/main">
              <a:ext uri="{FF2B5EF4-FFF2-40B4-BE49-F238E27FC236}">
                <a16:creationId xmlns:a16="http://schemas.microsoft.com/office/drawing/2014/main" id="{5E9413EF-AE13-4EBD-9F31-653CB685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66900"/>
            <a:ext cx="3695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11131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317"/>
                </a:solidFill>
                <a:latin typeface="Aptos"/>
                <a:ea typeface="Aptos"/>
                <a:cs typeface="Aptos"/>
              </a:rPr>
              <a:t>$49,2 mil MM ARR</a:t>
            </a:r>
          </a:p>
        </p:txBody>
      </p:sp>
      <p:sp>
        <p:nvSpPr>
          <p:cNvPr id="9" name="tier-1">
            <a:extLst xmlns:a="http://schemas.openxmlformats.org/drawingml/2006/main">
              <a:ext uri="{FF2B5EF4-FFF2-40B4-BE49-F238E27FC236}">
                <a16:creationId xmlns:a16="http://schemas.microsoft.com/office/drawing/2014/main" id="{758FB440-D5F1-4B7A-A0F3-DAEBD1D9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62250"/>
            <a:ext cx="80772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C9DC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ier-label-1">
            <a:extLst xmlns:a="http://schemas.openxmlformats.org/drawingml/2006/main">
              <a:ext uri="{FF2B5EF4-FFF2-40B4-BE49-F238E27FC236}">
                <a16:creationId xmlns:a16="http://schemas.microsoft.com/office/drawing/2014/main" id="{BC8C3573-6EC2-4243-A232-BC30B444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317"/>
                </a:solidFill>
                <a:latin typeface="Aptos"/>
                <a:ea typeface="Aptos"/>
                <a:cs typeface="Aptos"/>
              </a:rPr>
              <a:t>SAM</a:t>
            </a:r>
          </a:p>
        </p:txBody>
      </p:sp>
      <p:sp>
        <p:nvSpPr>
          <p:cNvPr id="11" name="tier-users-1">
            <a:extLst xmlns:a="http://schemas.openxmlformats.org/drawingml/2006/main">
              <a:ext uri="{FF2B5EF4-FFF2-40B4-BE49-F238E27FC236}">
                <a16:creationId xmlns:a16="http://schemas.microsoft.com/office/drawing/2014/main" id="{FC16B0ED-BF87-4BA1-9106-839E9F32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956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31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317"/>
                </a:solidFill>
                <a:latin typeface="Aptos"/>
                <a:ea typeface="Aptos"/>
                <a:cs typeface="Aptos"/>
              </a:rPr>
              <a:t>343.042</a:t>
            </a:r>
          </a:p>
        </p:txBody>
      </p:sp>
      <p:sp>
        <p:nvSpPr>
          <p:cNvPr id="12" name="tier-note-1">
            <a:extLst xmlns:a="http://schemas.openxmlformats.org/drawingml/2006/main">
              <a:ext uri="{FF2B5EF4-FFF2-40B4-BE49-F238E27FC236}">
                <a16:creationId xmlns:a16="http://schemas.microsoft.com/office/drawing/2014/main" id="{AE25547B-E762-4AF6-9441-59F1CE82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2670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16B"/>
                </a:solidFill>
                <a:latin typeface="Aptos"/>
                <a:ea typeface="Aptos"/>
                <a:cs typeface="Aptos"/>
              </a:rPr>
              <a:t>25% con trabajo/turnos variables · supuesto</a:t>
            </a:r>
          </a:p>
        </p:txBody>
      </p:sp>
      <p:sp>
        <p:nvSpPr>
          <p:cNvPr id="13" name="tier-value-1">
            <a:extLst xmlns:a="http://schemas.openxmlformats.org/drawingml/2006/main">
              <a:ext uri="{FF2B5EF4-FFF2-40B4-BE49-F238E27FC236}">
                <a16:creationId xmlns:a16="http://schemas.microsoft.com/office/drawing/2014/main" id="{518D8975-F61F-4A87-A7ED-958A4800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099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11131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317"/>
                </a:solidFill>
                <a:latin typeface="Aptos"/>
                <a:ea typeface="Aptos"/>
                <a:cs typeface="Aptos"/>
              </a:rPr>
              <a:t>$12,3 mil MM ARR</a:t>
            </a:r>
          </a:p>
        </p:txBody>
      </p:sp>
      <p:sp>
        <p:nvSpPr>
          <p:cNvPr id="14" name="tier-2">
            <a:extLst xmlns:a="http://schemas.openxmlformats.org/drawingml/2006/main">
              <a:ext uri="{FF2B5EF4-FFF2-40B4-BE49-F238E27FC236}">
                <a16:creationId xmlns:a16="http://schemas.microsoft.com/office/drawing/2014/main" id="{4E332103-CC1D-4359-A59E-0491B9FD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05250"/>
            <a:ext cx="54102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1D4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ier-label-2">
            <a:extLst xmlns:a="http://schemas.openxmlformats.org/drawingml/2006/main">
              <a:ext uri="{FF2B5EF4-FFF2-40B4-BE49-F238E27FC236}">
                <a16:creationId xmlns:a16="http://schemas.microsoft.com/office/drawing/2014/main" id="{D85DB7EB-E7C3-405B-B149-A7968C38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317"/>
                </a:solidFill>
                <a:latin typeface="Aptos"/>
                <a:ea typeface="Aptos"/>
                <a:cs typeface="Aptos"/>
              </a:rPr>
              <a:t>SOM</a:t>
            </a:r>
          </a:p>
        </p:txBody>
      </p:sp>
      <p:sp>
        <p:nvSpPr>
          <p:cNvPr id="16" name="tier-users-2">
            <a:extLst xmlns:a="http://schemas.openxmlformats.org/drawingml/2006/main">
              <a:ext uri="{FF2B5EF4-FFF2-40B4-BE49-F238E27FC236}">
                <a16:creationId xmlns:a16="http://schemas.microsoft.com/office/drawing/2014/main" id="{AC602250-CD41-4EE6-85E9-60A4CC40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386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31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317"/>
                </a:solidFill>
                <a:latin typeface="Aptos"/>
                <a:ea typeface="Aptos"/>
                <a:cs typeface="Aptos"/>
              </a:rPr>
              <a:t>3.430</a:t>
            </a:r>
          </a:p>
        </p:txBody>
      </p:sp>
      <p:sp>
        <p:nvSpPr>
          <p:cNvPr id="17" name="tier-note-2">
            <a:extLst xmlns:a="http://schemas.openxmlformats.org/drawingml/2006/main">
              <a:ext uri="{FF2B5EF4-FFF2-40B4-BE49-F238E27FC236}">
                <a16:creationId xmlns:a16="http://schemas.microsoft.com/office/drawing/2014/main" id="{71884588-6CA7-4999-B376-2EC406A1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100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16B"/>
                </a:solidFill>
                <a:latin typeface="Aptos"/>
                <a:ea typeface="Aptos"/>
                <a:cs typeface="Aptos"/>
              </a:rPr>
              <a:t>1% del SAM a 3 años · objetivo</a:t>
            </a:r>
          </a:p>
        </p:txBody>
      </p:sp>
      <p:sp>
        <p:nvSpPr>
          <p:cNvPr id="18" name="tier-value-2">
            <a:extLst xmlns:a="http://schemas.openxmlformats.org/drawingml/2006/main">
              <a:ext uri="{FF2B5EF4-FFF2-40B4-BE49-F238E27FC236}">
                <a16:creationId xmlns:a16="http://schemas.microsoft.com/office/drawing/2014/main" id="{73F1544D-631E-40FD-AACB-3C056CE0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1529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11131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317"/>
                </a:solidFill>
                <a:latin typeface="Aptos"/>
                <a:ea typeface="Aptos"/>
                <a:cs typeface="Aptos"/>
              </a:rPr>
              <a:t>$123 MM ARR</a:t>
            </a:r>
          </a:p>
        </p:txBody>
      </p:sp>
      <p:sp>
        <p:nvSpPr>
          <p:cNvPr id="19" name="market-formula">
            <a:extLst xmlns:a="http://schemas.openxmlformats.org/drawingml/2006/main">
              <a:ext uri="{FF2B5EF4-FFF2-40B4-BE49-F238E27FC236}">
                <a16:creationId xmlns:a16="http://schemas.microsoft.com/office/drawing/2014/main" id="{3AA41615-DFCE-4A87-988A-14371FDE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19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317"/>
                </a:solidFill>
                <a:latin typeface="Aptos"/>
                <a:ea typeface="Aptos"/>
                <a:cs typeface="Aptos"/>
              </a:rPr>
              <a:t>Precio anual: $2.990 × 12 = $35.880 por usuario</a:t>
            </a:r>
          </a:p>
        </p:txBody>
      </p:sp>
      <p:sp>
        <p:nvSpPr>
          <p:cNvPr id="20" name="market-caveat">
            <a:extLst xmlns:a="http://schemas.openxmlformats.org/drawingml/2006/main">
              <a:ext uri="{FF2B5EF4-FFF2-40B4-BE49-F238E27FC236}">
                <a16:creationId xmlns:a16="http://schemas.microsoft.com/office/drawing/2014/main" id="{F0D9CCEF-368D-4991-8086-E862105E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9117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16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16B"/>
                </a:solidFill>
                <a:latin typeface="Aptos"/>
                <a:ea typeface="Aptos"/>
                <a:cs typeface="Aptos"/>
              </a:rPr>
              <a:t>La proporción de estudiantes con turnos variables es la hipótesis de mercado que sigue en validación.</a:t>
            </a:r>
          </a:p>
        </p:txBody>
      </p:sp>
      <p:sp>
        <p:nvSpPr>
          <p:cNvPr id="21" name="source">
            <a:extLst xmlns:a="http://schemas.openxmlformats.org/drawingml/2006/main">
              <a:ext uri="{FF2B5EF4-FFF2-40B4-BE49-F238E27FC236}">
                <a16:creationId xmlns:a16="http://schemas.microsoft.com/office/drawing/2014/main" id="{F9AB668F-4871-4785-97E0-8858C950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912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16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16B"/>
                </a:solidFill>
                <a:latin typeface="Aptos"/>
                <a:ea typeface="Aptos"/>
                <a:cs typeface="Aptos"/>
              </a:rPr>
              <a:t>Fuente base: SIES, matrícula total de pregrado 2026.</a:t>
            </a:r>
          </a:p>
        </p:txBody>
      </p:sp>
    </p:spTree>
    <p:extLst>
      <p:ext uri="{BB962C8B-B14F-4D97-AF65-F5344CB8AC3E}">
        <p14:creationId xmlns:p14="http://schemas.microsoft.com/office/powerpoint/2010/main" val="20997170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kicker-6">
            <a:extLst xmlns:a="http://schemas.openxmlformats.org/drawingml/2006/main">
              <a:ext uri="{FF2B5EF4-FFF2-40B4-BE49-F238E27FC236}">
                <a16:creationId xmlns:a16="http://schemas.microsoft.com/office/drawing/2014/main" id="{BC71C53B-DC07-4037-AFC7-7362F5FA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36D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6D5B"/>
                </a:solidFill>
                <a:latin typeface="Aptos"/>
                <a:ea typeface="Aptos"/>
                <a:cs typeface="Aptos"/>
              </a:rPr>
              <a:t>MODELO DE NEGOCIO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80B7BD1A-8B3E-4C6B-9421-8533BAD1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839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317"/>
                </a:solidFill>
                <a:latin typeface="Aptos"/>
                <a:ea typeface="Aptos"/>
                <a:cs typeface="Aptos"/>
              </a:rPr>
              <a:t>$2.990 al mes, con economics objetivo de 4×.</a:t>
            </a:r>
          </a:p>
        </p:txBody>
      </p:sp>
      <p:sp>
        <p:nvSpPr>
          <p:cNvPr id="3" name="num-6">
            <a:extLst xmlns:a="http://schemas.openxmlformats.org/drawingml/2006/main">
              <a:ext uri="{FF2B5EF4-FFF2-40B4-BE49-F238E27FC236}">
                <a16:creationId xmlns:a16="http://schemas.microsoft.com/office/drawing/2014/main" id="{4D324A0C-BC1E-4457-8A40-ED4491DD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9616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9616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free-tier">
            <a:extLst xmlns:a="http://schemas.openxmlformats.org/drawingml/2006/main">
              <a:ext uri="{FF2B5EF4-FFF2-40B4-BE49-F238E27FC236}">
                <a16:creationId xmlns:a16="http://schemas.microsoft.com/office/drawing/2014/main" id="{5069DCCC-026D-4CC1-BA8B-EB3ED952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00200"/>
            <a:ext cx="2857500" cy="363855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C"/>
            </a:solidFill>
            <a:prstDash val="solid"/>
          </a:ln>
        </p:spPr>
      </p:sp>
      <p:sp>
        <p:nvSpPr>
          <p:cNvPr id="5" name="free-name">
            <a:extLst xmlns:a="http://schemas.openxmlformats.org/drawingml/2006/main">
              <a:ext uri="{FF2B5EF4-FFF2-40B4-BE49-F238E27FC236}">
                <a16:creationId xmlns:a16="http://schemas.microsoft.com/office/drawing/2014/main" id="{5C86A7F6-BBCE-4AF5-9DB2-B2B64B89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2095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317"/>
                </a:solidFill>
                <a:latin typeface="Aptos"/>
                <a:ea typeface="Aptos"/>
                <a:cs typeface="Aptos"/>
              </a:rPr>
              <a:t>Ritmo Free</a:t>
            </a:r>
          </a:p>
        </p:txBody>
      </p:sp>
      <p:sp>
        <p:nvSpPr>
          <p:cNvPr id="6" name="free-price">
            <a:extLst xmlns:a="http://schemas.openxmlformats.org/drawingml/2006/main">
              <a:ext uri="{FF2B5EF4-FFF2-40B4-BE49-F238E27FC236}">
                <a16:creationId xmlns:a16="http://schemas.microsoft.com/office/drawing/2014/main" id="{4509848C-4774-4372-815F-E68CCC74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52675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59616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59616B"/>
                </a:solidFill>
                <a:latin typeface="Aptos"/>
                <a:ea typeface="Aptos"/>
                <a:cs typeface="Aptos"/>
              </a:rPr>
              <a:t>$0</a:t>
            </a:r>
          </a:p>
        </p:txBody>
      </p:sp>
      <p:sp>
        <p:nvSpPr>
          <p:cNvPr id="7" name="free-list">
            <a:extLst xmlns:a="http://schemas.openxmlformats.org/drawingml/2006/main">
              <a:ext uri="{FF2B5EF4-FFF2-40B4-BE49-F238E27FC236}">
                <a16:creationId xmlns:a16="http://schemas.microsoft.com/office/drawing/2014/main" id="{CA6E5EDC-D94F-47A9-ADF0-053DC918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9616B"/>
                </a:solidFill>
                <a:latin typeface="Aptos"/>
                <a:ea typeface="Aptos"/>
                <a:cs typeface="Aptos"/>
              </a:rPr>
              <a:t>3 replanificaciones al mes</a:t>
            </a:r>
          </a:p>
          <a:p xmlns:a="http://schemas.openxmlformats.org/drawingml/2006/main">
            <a:pPr algn="l">
              <a:defRPr sz="1275" b="0">
                <a:solidFill>
                  <a:srgbClr val="5961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9616B"/>
                </a:solidFill>
                <a:latin typeface="Aptos"/>
                <a:ea typeface="Aptos"/>
                <a:cs typeface="Aptos"/>
              </a:rPr>
              <a:t>Carga manual de actividades</a:t>
            </a:r>
          </a:p>
          <a:p xmlns:a="http://schemas.openxmlformats.org/drawingml/2006/main">
            <a:pPr algn="l">
              <a:defRPr sz="1275" b="0">
                <a:solidFill>
                  <a:srgbClr val="5961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9616B"/>
                </a:solidFill>
                <a:latin typeface="Aptos"/>
                <a:ea typeface="Aptos"/>
                <a:cs typeface="Aptos"/>
              </a:rPr>
              <a:t>Plan semanal básico</a:t>
            </a:r>
          </a:p>
        </p:txBody>
      </p:sp>
      <p:sp>
        <p:nvSpPr>
          <p:cNvPr id="8" name="free-job">
            <a:extLst xmlns:a="http://schemas.openxmlformats.org/drawingml/2006/main">
              <a:ext uri="{FF2B5EF4-FFF2-40B4-BE49-F238E27FC236}">
                <a16:creationId xmlns:a16="http://schemas.microsoft.com/office/drawing/2014/main" id="{56114CA5-BD8F-4F86-9E80-07D5EC3A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36D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36D5B"/>
                </a:solidFill>
                <a:latin typeface="Aptos"/>
                <a:ea typeface="Aptos"/>
                <a:cs typeface="Aptos"/>
              </a:rPr>
              <a:t>Adquisición y aprendizaje</a:t>
            </a:r>
          </a:p>
        </p:txBody>
      </p:sp>
      <p:sp>
        <p:nvSpPr>
          <p:cNvPr id="9" name="plus-tier">
            <a:extLst xmlns:a="http://schemas.openxmlformats.org/drawingml/2006/main">
              <a:ext uri="{FF2B5EF4-FFF2-40B4-BE49-F238E27FC236}">
                <a16:creationId xmlns:a16="http://schemas.microsoft.com/office/drawing/2014/main" id="{B919B712-CBD8-4465-A5F8-6D24C069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390650"/>
            <a:ext cx="3333750" cy="40576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111317"/>
          </a:solidFill>
          <a:ln xmlns:a="http://schemas.openxmlformats.org/drawingml/2006/main" w="9525">
            <a:solidFill>
              <a:srgbClr val="111317"/>
            </a:solidFill>
            <a:prstDash val="solid"/>
          </a:ln>
        </p:spPr>
      </p:sp>
      <p:sp>
        <p:nvSpPr>
          <p:cNvPr id="10" name="plus-name">
            <a:extLst xmlns:a="http://schemas.openxmlformats.org/drawingml/2006/main">
              <a:ext uri="{FF2B5EF4-FFF2-40B4-BE49-F238E27FC236}">
                <a16:creationId xmlns:a16="http://schemas.microsoft.com/office/drawing/2014/main" id="{E7BCEAC8-76A4-49C0-AB42-F36B2774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714500"/>
            <a:ext cx="238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Ritmo Plus</a:t>
            </a:r>
          </a:p>
        </p:txBody>
      </p:sp>
      <p:sp>
        <p:nvSpPr>
          <p:cNvPr id="11" name="plus-price">
            <a:extLst xmlns:a="http://schemas.openxmlformats.org/drawingml/2006/main">
              <a:ext uri="{FF2B5EF4-FFF2-40B4-BE49-F238E27FC236}">
                <a16:creationId xmlns:a16="http://schemas.microsoft.com/office/drawing/2014/main" id="{7DDE0E9E-BDCD-4C73-9A4F-06436228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152650"/>
            <a:ext cx="2381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E7B85B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E7B85B"/>
                </a:solidFill>
                <a:latin typeface="Aptos"/>
                <a:ea typeface="Aptos"/>
                <a:cs typeface="Aptos"/>
              </a:rPr>
              <a:t>$2.990</a:t>
            </a:r>
          </a:p>
        </p:txBody>
      </p:sp>
      <p:sp>
        <p:nvSpPr>
          <p:cNvPr id="12" name="plus-month">
            <a:extLst xmlns:a="http://schemas.openxmlformats.org/drawingml/2006/main">
              <a:ext uri="{FF2B5EF4-FFF2-40B4-BE49-F238E27FC236}">
                <a16:creationId xmlns:a16="http://schemas.microsoft.com/office/drawing/2014/main" id="{A17F67D6-8CAE-49B7-9599-32F97EB9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146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AFB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AFB9"/>
                </a:solidFill>
                <a:latin typeface="Aptos"/>
                <a:ea typeface="Aptos"/>
                <a:cs typeface="Aptos"/>
              </a:rPr>
              <a:t>CLP / mes</a:t>
            </a:r>
          </a:p>
        </p:txBody>
      </p:sp>
      <p:sp>
        <p:nvSpPr>
          <p:cNvPr id="13" name="plus-list">
            <a:extLst xmlns:a="http://schemas.openxmlformats.org/drawingml/2006/main">
              <a:ext uri="{FF2B5EF4-FFF2-40B4-BE49-F238E27FC236}">
                <a16:creationId xmlns:a16="http://schemas.microsoft.com/office/drawing/2014/main" id="{27C48EB0-D7BE-4CA6-A0B7-AFF54E5A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38500"/>
            <a:ext cx="2571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1EA"/>
                </a:solidFill>
                <a:latin typeface="Aptos"/>
                <a:ea typeface="Aptos"/>
                <a:cs typeface="Aptos"/>
              </a:rPr>
              <a:t>Replanificación ilimitada</a:t>
            </a:r>
          </a:p>
          <a:p xmlns:a="http://schemas.openxmlformats.org/drawingml/2006/main">
            <a:pPr algn="l">
              <a:defRPr sz="1350" b="0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1EA"/>
                </a:solidFill>
                <a:latin typeface="Aptos"/>
                <a:ea typeface="Aptos"/>
                <a:cs typeface="Aptos"/>
              </a:rPr>
              <a:t>Explicación de cada cambio</a:t>
            </a:r>
          </a:p>
          <a:p xmlns:a="http://schemas.openxmlformats.org/drawingml/2006/main">
            <a:pPr algn="l">
              <a:defRPr sz="1350" b="0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1EA"/>
                </a:solidFill>
                <a:latin typeface="Aptos"/>
                <a:ea typeface="Aptos"/>
                <a:cs typeface="Aptos"/>
              </a:rPr>
              <a:t>Integración con calendario</a:t>
            </a:r>
          </a:p>
          <a:p xmlns:a="http://schemas.openxmlformats.org/drawingml/2006/main">
            <a:pPr algn="l">
              <a:defRPr sz="1350" b="0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1EA"/>
                </a:solidFill>
                <a:latin typeface="Aptos"/>
                <a:ea typeface="Aptos"/>
                <a:cs typeface="Aptos"/>
              </a:rPr>
              <a:t>Historial y recordatorios</a:t>
            </a:r>
          </a:p>
        </p:txBody>
      </p:sp>
      <p:sp>
        <p:nvSpPr>
          <p:cNvPr id="14" name="plus-note">
            <a:extLst xmlns:a="http://schemas.openxmlformats.org/drawingml/2006/main">
              <a:ext uri="{FF2B5EF4-FFF2-40B4-BE49-F238E27FC236}">
                <a16:creationId xmlns:a16="http://schemas.microsoft.com/office/drawing/2014/main" id="{B6378305-386B-4D7D-ABF0-05C81FCD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9530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AFB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AFB9"/>
                </a:solidFill>
                <a:latin typeface="Aptos"/>
                <a:ea typeface="Aptos"/>
                <a:cs typeface="Aptos"/>
              </a:rPr>
              <a:t>Precio por validar con señal de pago</a:t>
            </a:r>
          </a:p>
        </p:txBody>
      </p:sp>
      <p:sp>
        <p:nvSpPr>
          <p:cNvPr id="15" name="economics-label">
            <a:extLst xmlns:a="http://schemas.openxmlformats.org/drawingml/2006/main">
              <a:ext uri="{FF2B5EF4-FFF2-40B4-BE49-F238E27FC236}">
                <a16:creationId xmlns:a16="http://schemas.microsoft.com/office/drawing/2014/main" id="{1D5FB80D-A9C0-4DE1-A460-7A01B023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543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36D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6D5B"/>
                </a:solidFill>
                <a:latin typeface="Aptos"/>
                <a:ea typeface="Aptos"/>
                <a:cs typeface="Aptos"/>
              </a:rPr>
              <a:t>UNIT ECONOMICS OBJETIVO</a:t>
            </a:r>
          </a:p>
        </p:txBody>
      </p:sp>
      <p:sp>
        <p:nvSpPr>
          <p:cNvPr id="16" name="eco-label-0">
            <a:extLst xmlns:a="http://schemas.openxmlformats.org/drawingml/2006/main">
              <a:ext uri="{FF2B5EF4-FFF2-40B4-BE49-F238E27FC236}">
                <a16:creationId xmlns:a16="http://schemas.microsoft.com/office/drawing/2014/main" id="{E4D25B68-4C68-4F55-B549-61C24182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621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16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616B"/>
                </a:solidFill>
                <a:latin typeface="Aptos"/>
                <a:ea typeface="Aptos"/>
                <a:cs typeface="Aptos"/>
              </a:rPr>
              <a:t>Margen bruto</a:t>
            </a:r>
          </a:p>
        </p:txBody>
      </p:sp>
      <p:sp>
        <p:nvSpPr>
          <p:cNvPr id="17" name="eco-value-0">
            <a:extLst xmlns:a="http://schemas.openxmlformats.org/drawingml/2006/main">
              <a:ext uri="{FF2B5EF4-FFF2-40B4-BE49-F238E27FC236}">
                <a16:creationId xmlns:a16="http://schemas.microsoft.com/office/drawing/2014/main" id="{A4DD57A8-3F4F-40BA-9D57-B786D4CD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431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1131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317"/>
                </a:solidFill>
                <a:latin typeface="Aptos"/>
                <a:ea typeface="Aptos"/>
                <a:cs typeface="Aptos"/>
              </a:rPr>
              <a:t>85%</a:t>
            </a:r>
          </a:p>
        </p:txBody>
      </p:sp>
      <p:sp>
        <p:nvSpPr>
          <p:cNvPr id="18" name="eco-rule-0">
            <a:extLst xmlns:a="http://schemas.openxmlformats.org/drawingml/2006/main">
              <a:ext uri="{FF2B5EF4-FFF2-40B4-BE49-F238E27FC236}">
                <a16:creationId xmlns:a16="http://schemas.microsoft.com/office/drawing/2014/main" id="{3B240DDB-AED8-4FEA-BFB7-FA616FA7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24100"/>
            <a:ext cx="37719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D4CC"/>
            </a:solidFill>
            <a:prstDash val="solid"/>
          </a:ln>
        </p:spPr>
      </p:sp>
      <p:sp>
        <p:nvSpPr>
          <p:cNvPr id="19" name="eco-label-1">
            <a:extLst xmlns:a="http://schemas.openxmlformats.org/drawingml/2006/main">
              <a:ext uri="{FF2B5EF4-FFF2-40B4-BE49-F238E27FC236}">
                <a16:creationId xmlns:a16="http://schemas.microsoft.com/office/drawing/2014/main" id="{9C093DD3-C90A-4FF8-BE1C-6432BFFE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289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16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616B"/>
                </a:solidFill>
                <a:latin typeface="Aptos"/>
                <a:ea typeface="Aptos"/>
                <a:cs typeface="Aptos"/>
              </a:rPr>
              <a:t>CAC blended</a:t>
            </a:r>
          </a:p>
        </p:txBody>
      </p:sp>
      <p:sp>
        <p:nvSpPr>
          <p:cNvPr id="20" name="eco-value-1">
            <a:extLst xmlns:a="http://schemas.openxmlformats.org/drawingml/2006/main">
              <a:ext uri="{FF2B5EF4-FFF2-40B4-BE49-F238E27FC236}">
                <a16:creationId xmlns:a16="http://schemas.microsoft.com/office/drawing/2014/main" id="{46B17D30-0FB3-4CC8-B33A-336274D8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098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1131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317"/>
                </a:solidFill>
                <a:latin typeface="Aptos"/>
                <a:ea typeface="Aptos"/>
                <a:cs typeface="Aptos"/>
              </a:rPr>
              <a:t>$8.000</a:t>
            </a:r>
          </a:p>
        </p:txBody>
      </p:sp>
      <p:sp>
        <p:nvSpPr>
          <p:cNvPr id="21" name="eco-rule-1">
            <a:extLst xmlns:a="http://schemas.openxmlformats.org/drawingml/2006/main">
              <a:ext uri="{FF2B5EF4-FFF2-40B4-BE49-F238E27FC236}">
                <a16:creationId xmlns:a16="http://schemas.microsoft.com/office/drawing/2014/main" id="{7F2FFEA6-1BB2-4367-A6D8-0449F8FB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990850"/>
            <a:ext cx="37719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D4CC"/>
            </a:solidFill>
            <a:prstDash val="solid"/>
          </a:ln>
        </p:spPr>
      </p:sp>
      <p:sp>
        <p:nvSpPr>
          <p:cNvPr id="22" name="eco-label-2">
            <a:extLst xmlns:a="http://schemas.openxmlformats.org/drawingml/2006/main">
              <a:ext uri="{FF2B5EF4-FFF2-40B4-BE49-F238E27FC236}">
                <a16:creationId xmlns:a16="http://schemas.microsoft.com/office/drawing/2014/main" id="{A5AEA9DC-1E65-4B33-AD7A-49915AF5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2956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16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616B"/>
                </a:solidFill>
                <a:latin typeface="Aptos"/>
                <a:ea typeface="Aptos"/>
                <a:cs typeface="Aptos"/>
              </a:rPr>
              <a:t>Churn mensual</a:t>
            </a:r>
          </a:p>
        </p:txBody>
      </p:sp>
      <p:sp>
        <p:nvSpPr>
          <p:cNvPr id="23" name="eco-value-2">
            <a:extLst xmlns:a="http://schemas.openxmlformats.org/drawingml/2006/main">
              <a:ext uri="{FF2B5EF4-FFF2-40B4-BE49-F238E27FC236}">
                <a16:creationId xmlns:a16="http://schemas.microsoft.com/office/drawing/2014/main" id="{D0084FE4-D333-41C3-9A6E-99D91903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76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1131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317"/>
                </a:solidFill>
                <a:latin typeface="Aptos"/>
                <a:ea typeface="Aptos"/>
                <a:cs typeface="Aptos"/>
              </a:rPr>
              <a:t>8%</a:t>
            </a:r>
          </a:p>
        </p:txBody>
      </p:sp>
      <p:sp>
        <p:nvSpPr>
          <p:cNvPr id="24" name="eco-rule-2">
            <a:extLst xmlns:a="http://schemas.openxmlformats.org/drawingml/2006/main">
              <a:ext uri="{FF2B5EF4-FFF2-40B4-BE49-F238E27FC236}">
                <a16:creationId xmlns:a16="http://schemas.microsoft.com/office/drawing/2014/main" id="{C6702521-9147-49AF-9E39-59173749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657600"/>
            <a:ext cx="37719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D4CC"/>
            </a:solidFill>
            <a:prstDash val="solid"/>
          </a:ln>
        </p:spPr>
      </p:sp>
      <p:sp>
        <p:nvSpPr>
          <p:cNvPr id="25" name="eco-label-3">
            <a:extLst xmlns:a="http://schemas.openxmlformats.org/drawingml/2006/main">
              <a:ext uri="{FF2B5EF4-FFF2-40B4-BE49-F238E27FC236}">
                <a16:creationId xmlns:a16="http://schemas.microsoft.com/office/drawing/2014/main" id="{8A9C9430-415D-46C3-B8B0-6294829B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9624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16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616B"/>
                </a:solidFill>
                <a:latin typeface="Aptos"/>
                <a:ea typeface="Aptos"/>
                <a:cs typeface="Aptos"/>
              </a:rPr>
              <a:t>LTV bruto</a:t>
            </a:r>
          </a:p>
        </p:txBody>
      </p:sp>
      <p:sp>
        <p:nvSpPr>
          <p:cNvPr id="26" name="eco-value-3">
            <a:extLst xmlns:a="http://schemas.openxmlformats.org/drawingml/2006/main">
              <a:ext uri="{FF2B5EF4-FFF2-40B4-BE49-F238E27FC236}">
                <a16:creationId xmlns:a16="http://schemas.microsoft.com/office/drawing/2014/main" id="{94DD74D5-F219-4024-A393-D2069E85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9433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1131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317"/>
                </a:solidFill>
                <a:latin typeface="Aptos"/>
                <a:ea typeface="Aptos"/>
                <a:cs typeface="Aptos"/>
              </a:rPr>
              <a:t>$31.769</a:t>
            </a:r>
          </a:p>
        </p:txBody>
      </p:sp>
      <p:sp>
        <p:nvSpPr>
          <p:cNvPr id="27" name="eco-rule-3">
            <a:extLst xmlns:a="http://schemas.openxmlformats.org/drawingml/2006/main">
              <a:ext uri="{FF2B5EF4-FFF2-40B4-BE49-F238E27FC236}">
                <a16:creationId xmlns:a16="http://schemas.microsoft.com/office/drawing/2014/main" id="{C80E6043-B164-45B3-9788-36DE2CF5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324350"/>
            <a:ext cx="37719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D4CC"/>
            </a:solidFill>
            <a:prstDash val="solid"/>
          </a:ln>
        </p:spPr>
      </p:sp>
      <p:sp>
        <p:nvSpPr>
          <p:cNvPr id="28" name="ratio">
            <a:extLst xmlns:a="http://schemas.openxmlformats.org/drawingml/2006/main">
              <a:ext uri="{FF2B5EF4-FFF2-40B4-BE49-F238E27FC236}">
                <a16:creationId xmlns:a16="http://schemas.microsoft.com/office/drawing/2014/main" id="{20F771CA-5373-41A3-ACC4-EB385CBA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762500"/>
            <a:ext cx="3771900" cy="68580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61A7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ratio-text">
            <a:extLst xmlns:a="http://schemas.openxmlformats.org/drawingml/2006/main">
              <a:ext uri="{FF2B5EF4-FFF2-40B4-BE49-F238E27FC236}">
                <a16:creationId xmlns:a16="http://schemas.microsoft.com/office/drawing/2014/main" id="{68CD25D8-68C9-4530-BE90-2C2B6762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953000"/>
            <a:ext cx="335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8170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8170E"/>
                </a:solidFill>
                <a:latin typeface="Aptos"/>
                <a:ea typeface="Aptos"/>
                <a:cs typeface="Aptos"/>
              </a:rPr>
              <a:t>LTV / CAC = 4,0×</a:t>
            </a:r>
          </a:p>
        </p:txBody>
      </p:sp>
      <p:sp>
        <p:nvSpPr>
          <p:cNvPr id="30" name="economics-caveat">
            <a:extLst xmlns:a="http://schemas.openxmlformats.org/drawingml/2006/main">
              <a:ext uri="{FF2B5EF4-FFF2-40B4-BE49-F238E27FC236}">
                <a16:creationId xmlns:a16="http://schemas.microsoft.com/office/drawing/2014/main" id="{0DD80A7A-2D20-4D9C-BFC4-7C86213F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619750"/>
            <a:ext cx="377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16B"/>
                </a:solidFill>
                <a:latin typeface="Aptos"/>
                <a:ea typeface="Aptos"/>
                <a:cs typeface="Aptos"/>
              </a:rPr>
              <a:t>Modelo objetivo; CAC, churn y margen aún no observados.</a:t>
            </a:r>
          </a:p>
        </p:txBody>
      </p:sp>
    </p:spTree>
    <p:extLst>
      <p:ext uri="{BB962C8B-B14F-4D97-AF65-F5344CB8AC3E}">
        <p14:creationId xmlns:p14="http://schemas.microsoft.com/office/powerpoint/2010/main" val="11427535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kicker-7">
            <a:extLst xmlns:a="http://schemas.openxmlformats.org/drawingml/2006/main">
              <a:ext uri="{FF2B5EF4-FFF2-40B4-BE49-F238E27FC236}">
                <a16:creationId xmlns:a16="http://schemas.microsoft.com/office/drawing/2014/main" id="{37B1E98D-4ED4-4551-BFD9-38DC52FA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12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36D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6D5B"/>
                </a:solidFill>
                <a:latin typeface="Aptos"/>
                <a:ea typeface="Aptos"/>
                <a:cs typeface="Aptos"/>
              </a:rPr>
              <a:t>COMPETENCIA · POR QUÉ AHORA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3893C63D-B7DF-4098-9CE0-9A3CA449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839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317"/>
                </a:solidFill>
                <a:latin typeface="Aptos"/>
                <a:ea typeface="Aptos"/>
                <a:cs typeface="Aptos"/>
              </a:rPr>
              <a:t>Las agendas registran. Ritmo replanifica.</a:t>
            </a:r>
          </a:p>
        </p:txBody>
      </p:sp>
      <p:sp>
        <p:nvSpPr>
          <p:cNvPr id="3" name="num-7">
            <a:extLst xmlns:a="http://schemas.openxmlformats.org/drawingml/2006/main">
              <a:ext uri="{FF2B5EF4-FFF2-40B4-BE49-F238E27FC236}">
                <a16:creationId xmlns:a16="http://schemas.microsoft.com/office/drawing/2014/main" id="{890C66F8-60D1-4447-BFCF-DA48E299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9616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9616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matrix">
            <a:extLst xmlns:a="http://schemas.openxmlformats.org/drawingml/2006/main">
              <a:ext uri="{FF2B5EF4-FFF2-40B4-BE49-F238E27FC236}">
                <a16:creationId xmlns:a16="http://schemas.microsoft.com/office/drawing/2014/main" id="{8D6DC8F9-87E4-4752-AFEE-109DB40E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6953250" cy="4495800"/>
          </a:xfrm>
          <a:prstGeom xmlns:a="http://schemas.openxmlformats.org/drawingml/2006/main" prst="roundRect">
            <a:avLst>
              <a:gd name="adj" fmla="val 8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C"/>
            </a:solidFill>
            <a:prstDash val="solid"/>
          </a:ln>
        </p:spPr>
      </p:sp>
      <p:sp>
        <p:nvSpPr>
          <p:cNvPr id="5" name="x-axis">
            <a:extLst xmlns:a="http://schemas.openxmlformats.org/drawingml/2006/main">
              <a:ext uri="{FF2B5EF4-FFF2-40B4-BE49-F238E27FC236}">
                <a16:creationId xmlns:a16="http://schemas.microsoft.com/office/drawing/2014/main" id="{A7668F0A-0F6F-4167-BA77-42E6D3D1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67325"/>
            <a:ext cx="57626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11317"/>
            </a:solidFill>
            <a:prstDash val="solid"/>
          </a:ln>
        </p:spPr>
      </p:sp>
      <p:sp>
        <p:nvSpPr>
          <p:cNvPr id="6" name="y-axis">
            <a:extLst xmlns:a="http://schemas.openxmlformats.org/drawingml/2006/main">
              <a:ext uri="{FF2B5EF4-FFF2-40B4-BE49-F238E27FC236}">
                <a16:creationId xmlns:a16="http://schemas.microsoft.com/office/drawing/2014/main" id="{BBC18D6A-5B55-47C0-8066-D831C7E7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971675"/>
            <a:ext cx="0" cy="32956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11317"/>
            </a:solidFill>
            <a:prstDash val="solid"/>
          </a:ln>
        </p:spPr>
      </p:sp>
      <p:sp>
        <p:nvSpPr>
          <p:cNvPr id="7" name="x-left">
            <a:extLst xmlns:a="http://schemas.openxmlformats.org/drawingml/2006/main">
              <a:ext uri="{FF2B5EF4-FFF2-40B4-BE49-F238E27FC236}">
                <a16:creationId xmlns:a16="http://schemas.microsoft.com/office/drawing/2014/main" id="{B289A7FB-F01D-4A46-BFA0-28247D7B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3877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16B"/>
                </a:solidFill>
                <a:latin typeface="Aptos"/>
                <a:ea typeface="Aptos"/>
                <a:cs typeface="Aptos"/>
              </a:rPr>
              <a:t>Genérico</a:t>
            </a:r>
          </a:p>
        </p:txBody>
      </p:sp>
      <p:sp>
        <p:nvSpPr>
          <p:cNvPr id="8" name="x-right">
            <a:extLst xmlns:a="http://schemas.openxmlformats.org/drawingml/2006/main">
              <a:ext uri="{FF2B5EF4-FFF2-40B4-BE49-F238E27FC236}">
                <a16:creationId xmlns:a16="http://schemas.microsoft.com/office/drawing/2014/main" id="{85F27826-17FD-44DC-AD75-91D9742D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438775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961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16B"/>
                </a:solidFill>
                <a:latin typeface="Aptos"/>
                <a:ea typeface="Aptos"/>
                <a:cs typeface="Aptos"/>
              </a:rPr>
              <a:t>Estudio + trabajo</a:t>
            </a:r>
          </a:p>
        </p:txBody>
      </p:sp>
      <p:sp>
        <p:nvSpPr>
          <p:cNvPr id="9" name="y-low">
            <a:extLst xmlns:a="http://schemas.openxmlformats.org/drawingml/2006/main">
              <a:ext uri="{FF2B5EF4-FFF2-40B4-BE49-F238E27FC236}">
                <a16:creationId xmlns:a16="http://schemas.microsoft.com/office/drawing/2014/main" id="{73990921-4148-4C03-BD95-135B9BC0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9616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16B"/>
                </a:solidFill>
                <a:latin typeface="Aptos"/>
                <a:ea typeface="Aptos"/>
                <a:cs typeface="Aptos"/>
              </a:rPr>
              <a:t>Registra</a:t>
            </a:r>
          </a:p>
        </p:txBody>
      </p:sp>
      <p:sp>
        <p:nvSpPr>
          <p:cNvPr id="10" name="y-high">
            <a:extLst xmlns:a="http://schemas.openxmlformats.org/drawingml/2006/main">
              <a:ext uri="{FF2B5EF4-FFF2-40B4-BE49-F238E27FC236}">
                <a16:creationId xmlns:a16="http://schemas.microsoft.com/office/drawing/2014/main" id="{87BB6B74-C140-4E0E-ACD8-7E5401A9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1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9616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9616B"/>
                </a:solidFill>
                <a:latin typeface="Aptos"/>
                <a:ea typeface="Aptos"/>
                <a:cs typeface="Aptos"/>
              </a:rPr>
              <a:t>Replanifica</a:t>
            </a:r>
          </a:p>
        </p:txBody>
      </p:sp>
      <p:sp>
        <p:nvSpPr>
          <p:cNvPr id="11" name="player-0">
            <a:extLst xmlns:a="http://schemas.openxmlformats.org/drawingml/2006/main">
              <a:ext uri="{FF2B5EF4-FFF2-40B4-BE49-F238E27FC236}">
                <a16:creationId xmlns:a16="http://schemas.microsoft.com/office/drawing/2014/main" id="{0E598707-8740-4B23-9908-CF401F48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581525"/>
            <a:ext cx="12192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layer-t-0">
            <a:extLst xmlns:a="http://schemas.openxmlformats.org/drawingml/2006/main">
              <a:ext uri="{FF2B5EF4-FFF2-40B4-BE49-F238E27FC236}">
                <a16:creationId xmlns:a16="http://schemas.microsoft.com/office/drawing/2014/main" id="{346709F0-C4AE-4973-B8C7-DD1BC619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4686300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1131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317"/>
                </a:solidFill>
                <a:latin typeface="Aptos"/>
                <a:ea typeface="Aptos"/>
                <a:cs typeface="Aptos"/>
              </a:rPr>
              <a:t>Google Calendar</a:t>
            </a:r>
          </a:p>
        </p:txBody>
      </p:sp>
      <p:sp>
        <p:nvSpPr>
          <p:cNvPr id="13" name="player-1">
            <a:extLst xmlns:a="http://schemas.openxmlformats.org/drawingml/2006/main">
              <a:ext uri="{FF2B5EF4-FFF2-40B4-BE49-F238E27FC236}">
                <a16:creationId xmlns:a16="http://schemas.microsoft.com/office/drawing/2014/main" id="{FDC1DE6E-A241-46B7-B83F-8693A74F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14800"/>
            <a:ext cx="12192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layer-t-1">
            <a:extLst xmlns:a="http://schemas.openxmlformats.org/drawingml/2006/main">
              <a:ext uri="{FF2B5EF4-FFF2-40B4-BE49-F238E27FC236}">
                <a16:creationId xmlns:a16="http://schemas.microsoft.com/office/drawing/2014/main" id="{AA1686CE-471F-4C6D-BDD5-72423553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219575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1131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317"/>
                </a:solidFill>
                <a:latin typeface="Aptos"/>
                <a:ea typeface="Aptos"/>
                <a:cs typeface="Aptos"/>
              </a:rPr>
              <a:t>Notion / Trello</a:t>
            </a:r>
          </a:p>
        </p:txBody>
      </p:sp>
      <p:sp>
        <p:nvSpPr>
          <p:cNvPr id="15" name="player-2">
            <a:extLst xmlns:a="http://schemas.openxmlformats.org/drawingml/2006/main">
              <a:ext uri="{FF2B5EF4-FFF2-40B4-BE49-F238E27FC236}">
                <a16:creationId xmlns:a16="http://schemas.microsoft.com/office/drawing/2014/main" id="{5F84CC94-BB44-4F67-8BA2-9E85527E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324350"/>
            <a:ext cx="12192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5A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layer-t-2">
            <a:extLst xmlns:a="http://schemas.openxmlformats.org/drawingml/2006/main">
              <a:ext uri="{FF2B5EF4-FFF2-40B4-BE49-F238E27FC236}">
                <a16:creationId xmlns:a16="http://schemas.microsoft.com/office/drawing/2014/main" id="{1F34BF3F-5FF1-4E79-BE6A-54661FA9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429125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1131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317"/>
                </a:solidFill>
                <a:latin typeface="Aptos"/>
                <a:ea typeface="Aptos"/>
                <a:cs typeface="Aptos"/>
              </a:rPr>
              <a:t>MyStudyLife</a:t>
            </a:r>
          </a:p>
        </p:txBody>
      </p:sp>
      <p:sp>
        <p:nvSpPr>
          <p:cNvPr id="17" name="player-3">
            <a:extLst xmlns:a="http://schemas.openxmlformats.org/drawingml/2006/main">
              <a:ext uri="{FF2B5EF4-FFF2-40B4-BE49-F238E27FC236}">
                <a16:creationId xmlns:a16="http://schemas.microsoft.com/office/drawing/2014/main" id="{31769F60-DCAC-48AA-90BA-4A9584A2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686050"/>
            <a:ext cx="12192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6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layer-t-3">
            <a:extLst xmlns:a="http://schemas.openxmlformats.org/drawingml/2006/main">
              <a:ext uri="{FF2B5EF4-FFF2-40B4-BE49-F238E27FC236}">
                <a16:creationId xmlns:a16="http://schemas.microsoft.com/office/drawing/2014/main" id="{A1896809-A0ED-47DD-9BF6-EFEC92F8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790825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1131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317"/>
                </a:solidFill>
                <a:latin typeface="Aptos"/>
                <a:ea typeface="Aptos"/>
                <a:cs typeface="Aptos"/>
              </a:rPr>
              <a:t>Motion</a:t>
            </a:r>
          </a:p>
        </p:txBody>
      </p:sp>
      <p:sp>
        <p:nvSpPr>
          <p:cNvPr id="19" name="player-4">
            <a:extLst xmlns:a="http://schemas.openxmlformats.org/drawingml/2006/main">
              <a:ext uri="{FF2B5EF4-FFF2-40B4-BE49-F238E27FC236}">
                <a16:creationId xmlns:a16="http://schemas.microsoft.com/office/drawing/2014/main" id="{331E1BC0-39F0-4A88-9D1F-9C32F22E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33625"/>
            <a:ext cx="9715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B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layer-t-4">
            <a:extLst xmlns:a="http://schemas.openxmlformats.org/drawingml/2006/main">
              <a:ext uri="{FF2B5EF4-FFF2-40B4-BE49-F238E27FC236}">
                <a16:creationId xmlns:a16="http://schemas.microsoft.com/office/drawing/2014/main" id="{75FF7D37-07E4-466C-9F44-839606D9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38400"/>
            <a:ext cx="819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31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317"/>
                </a:solidFill>
                <a:latin typeface="Aptos"/>
                <a:ea typeface="Aptos"/>
                <a:cs typeface="Aptos"/>
              </a:rPr>
              <a:t>RITMO</a:t>
            </a:r>
          </a:p>
        </p:txBody>
      </p:sp>
      <p:sp>
        <p:nvSpPr>
          <p:cNvPr id="21" name="now-label">
            <a:extLst xmlns:a="http://schemas.openxmlformats.org/drawingml/2006/main">
              <a:ext uri="{FF2B5EF4-FFF2-40B4-BE49-F238E27FC236}">
                <a16:creationId xmlns:a16="http://schemas.microsoft.com/office/drawing/2014/main" id="{0763FD4F-C86D-48F0-B8AE-19E62584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811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36D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6D5B"/>
                </a:solidFill>
                <a:latin typeface="Aptos"/>
                <a:ea typeface="Aptos"/>
                <a:cs typeface="Aptos"/>
              </a:rPr>
              <a:t>VENTANA DE OPORTUNIDAD</a:t>
            </a:r>
          </a:p>
        </p:txBody>
      </p:sp>
      <p:sp>
        <p:nvSpPr>
          <p:cNvPr id="22" name="now-v-0">
            <a:extLst xmlns:a="http://schemas.openxmlformats.org/drawingml/2006/main">
              <a:ext uri="{FF2B5EF4-FFF2-40B4-BE49-F238E27FC236}">
                <a16:creationId xmlns:a16="http://schemas.microsoft.com/office/drawing/2014/main" id="{B54D1420-A8C2-488A-9C2E-6C355A4B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574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5A6C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65A6C8"/>
                </a:solidFill>
                <a:latin typeface="Aptos"/>
                <a:ea typeface="Aptos"/>
                <a:cs typeface="Aptos"/>
              </a:rPr>
              <a:t>1,37 M</a:t>
            </a:r>
          </a:p>
        </p:txBody>
      </p:sp>
      <p:sp>
        <p:nvSpPr>
          <p:cNvPr id="23" name="now-l-0">
            <a:extLst xmlns:a="http://schemas.openxmlformats.org/drawingml/2006/main">
              <a:ext uri="{FF2B5EF4-FFF2-40B4-BE49-F238E27FC236}">
                <a16:creationId xmlns:a16="http://schemas.microsoft.com/office/drawing/2014/main" id="{C6561E97-F864-45BF-A814-404CEBD7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9550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317"/>
                </a:solidFill>
                <a:latin typeface="Aptos"/>
                <a:ea typeface="Aptos"/>
                <a:cs typeface="Aptos"/>
              </a:rPr>
              <a:t>estudiantes de pregrado en Chile</a:t>
            </a:r>
          </a:p>
        </p:txBody>
      </p:sp>
      <p:sp>
        <p:nvSpPr>
          <p:cNvPr id="24" name="now-r-0">
            <a:extLst xmlns:a="http://schemas.openxmlformats.org/drawingml/2006/main">
              <a:ext uri="{FF2B5EF4-FFF2-40B4-BE49-F238E27FC236}">
                <a16:creationId xmlns:a16="http://schemas.microsoft.com/office/drawing/2014/main" id="{2B9CEF91-C6A3-4D0F-A917-52351455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00350"/>
            <a:ext cx="33909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D4CC"/>
            </a:solidFill>
            <a:prstDash val="solid"/>
          </a:ln>
        </p:spPr>
      </p:sp>
      <p:sp>
        <p:nvSpPr>
          <p:cNvPr id="25" name="now-v-1">
            <a:extLst xmlns:a="http://schemas.openxmlformats.org/drawingml/2006/main">
              <a:ext uri="{FF2B5EF4-FFF2-40B4-BE49-F238E27FC236}">
                <a16:creationId xmlns:a16="http://schemas.microsoft.com/office/drawing/2014/main" id="{DAE95AC3-77AD-4885-8F7F-C7AACBC5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813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1A77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61A77B"/>
                </a:solidFill>
                <a:latin typeface="Aptos"/>
                <a:ea typeface="Aptos"/>
                <a:cs typeface="Aptos"/>
              </a:rPr>
              <a:t>API</a:t>
            </a:r>
          </a:p>
        </p:txBody>
      </p:sp>
      <p:sp>
        <p:nvSpPr>
          <p:cNvPr id="26" name="now-l-1">
            <a:extLst xmlns:a="http://schemas.openxmlformats.org/drawingml/2006/main">
              <a:ext uri="{FF2B5EF4-FFF2-40B4-BE49-F238E27FC236}">
                <a16:creationId xmlns:a16="http://schemas.microsoft.com/office/drawing/2014/main" id="{538D69AD-FE56-49AD-8A3F-37AB6830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194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317"/>
                </a:solidFill>
                <a:latin typeface="Aptos"/>
                <a:ea typeface="Aptos"/>
                <a:cs typeface="Aptos"/>
              </a:rPr>
              <a:t>calendarios e integración disponibles</a:t>
            </a:r>
          </a:p>
        </p:txBody>
      </p:sp>
      <p:sp>
        <p:nvSpPr>
          <p:cNvPr id="27" name="now-r-1">
            <a:extLst xmlns:a="http://schemas.openxmlformats.org/drawingml/2006/main">
              <a:ext uri="{FF2B5EF4-FFF2-40B4-BE49-F238E27FC236}">
                <a16:creationId xmlns:a16="http://schemas.microsoft.com/office/drawing/2014/main" id="{97228C43-8A19-4786-B505-A4E0D2201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24300"/>
            <a:ext cx="33909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D4CC"/>
            </a:solidFill>
            <a:prstDash val="solid"/>
          </a:ln>
        </p:spPr>
      </p:sp>
      <p:sp>
        <p:nvSpPr>
          <p:cNvPr id="28" name="now-v-2">
            <a:extLst xmlns:a="http://schemas.openxmlformats.org/drawingml/2006/main">
              <a:ext uri="{FF2B5EF4-FFF2-40B4-BE49-F238E27FC236}">
                <a16:creationId xmlns:a16="http://schemas.microsoft.com/office/drawing/2014/main" id="{88E00102-2B94-4B1F-BD85-18088F29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053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7B85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7B85B"/>
                </a:solidFill>
                <a:latin typeface="Aptos"/>
                <a:ea typeface="Aptos"/>
                <a:cs typeface="Aptos"/>
              </a:rPr>
              <a:t>IA</a:t>
            </a:r>
          </a:p>
        </p:txBody>
      </p:sp>
      <p:sp>
        <p:nvSpPr>
          <p:cNvPr id="29" name="now-l-2">
            <a:extLst xmlns:a="http://schemas.openxmlformats.org/drawingml/2006/main">
              <a:ext uri="{FF2B5EF4-FFF2-40B4-BE49-F238E27FC236}">
                <a16:creationId xmlns:a16="http://schemas.microsoft.com/office/drawing/2014/main" id="{F29C4AB5-D337-4327-86EE-933B8A1E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4340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317"/>
                </a:solidFill>
                <a:latin typeface="Aptos"/>
                <a:ea typeface="Aptos"/>
                <a:cs typeface="Aptos"/>
              </a:rPr>
              <a:t>menor costo para explicar y priorizar</a:t>
            </a:r>
          </a:p>
        </p:txBody>
      </p:sp>
      <p:sp>
        <p:nvSpPr>
          <p:cNvPr id="30" name="positioning">
            <a:extLst xmlns:a="http://schemas.openxmlformats.org/drawingml/2006/main">
              <a:ext uri="{FF2B5EF4-FFF2-40B4-BE49-F238E27FC236}">
                <a16:creationId xmlns:a16="http://schemas.microsoft.com/office/drawing/2014/main" id="{0EB843CD-C3CC-4483-8303-0A0F1F37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50545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62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1A77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1A77B"/>
                </a:solidFill>
                <a:latin typeface="Aptos"/>
                <a:ea typeface="Aptos"/>
                <a:cs typeface="Aptos"/>
              </a:rPr>
              <a:t>Ventaja inicial: flujo especializado, local y explicable.</a:t>
            </a:r>
          </a:p>
        </p:txBody>
      </p:sp>
    </p:spTree>
    <p:extLst>
      <p:ext uri="{BB962C8B-B14F-4D97-AF65-F5344CB8AC3E}">
        <p14:creationId xmlns:p14="http://schemas.microsoft.com/office/powerpoint/2010/main" val="5692380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kicker-8">
            <a:extLst xmlns:a="http://schemas.openxmlformats.org/drawingml/2006/main">
              <a:ext uri="{FF2B5EF4-FFF2-40B4-BE49-F238E27FC236}">
                <a16:creationId xmlns:a16="http://schemas.microsoft.com/office/drawing/2014/main" id="{4E1524B8-C47F-47C5-A003-3FF369A6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36D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6D5B"/>
                </a:solidFill>
                <a:latin typeface="Aptos"/>
                <a:ea typeface="Aptos"/>
                <a:cs typeface="Aptos"/>
              </a:rPr>
              <a:t>EQUIPO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0D19273E-E356-401A-8415-7BD29DBF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839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317"/>
                </a:solidFill>
                <a:latin typeface="Aptos"/>
                <a:ea typeface="Aptos"/>
                <a:cs typeface="Aptos"/>
              </a:rPr>
              <a:t>Construimos desde el problema, no desde el calendario.</a:t>
            </a:r>
          </a:p>
        </p:txBody>
      </p:sp>
      <p:sp>
        <p:nvSpPr>
          <p:cNvPr id="3" name="num-8">
            <a:extLst xmlns:a="http://schemas.openxmlformats.org/drawingml/2006/main">
              <a:ext uri="{FF2B5EF4-FFF2-40B4-BE49-F238E27FC236}">
                <a16:creationId xmlns:a16="http://schemas.microsoft.com/office/drawing/2014/main" id="{EB0AF243-7AEB-48D9-8C35-83116C91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9616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9616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fit">
            <a:extLst xmlns:a="http://schemas.openxmlformats.org/drawingml/2006/main">
              <a:ext uri="{FF2B5EF4-FFF2-40B4-BE49-F238E27FC236}">
                <a16:creationId xmlns:a16="http://schemas.microsoft.com/office/drawing/2014/main" id="{F25F6D9A-A9F3-4B28-B5D5-8032CE20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6207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16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9616B"/>
                </a:solidFill>
                <a:latin typeface="Aptos"/>
                <a:ea typeface="Aptos"/>
                <a:cs typeface="Aptos"/>
              </a:rPr>
              <a:t>El equipo ya recorrió discovery, síntesis, modelo, prototipo y experimento. Los roles siguen ese trabajo.</a:t>
            </a:r>
          </a:p>
        </p:txBody>
      </p:sp>
      <p:sp>
        <p:nvSpPr>
          <p:cNvPr id="5" name="member-0">
            <a:extLst xmlns:a="http://schemas.openxmlformats.org/drawingml/2006/main">
              <a:ext uri="{FF2B5EF4-FFF2-40B4-BE49-F238E27FC236}">
                <a16:creationId xmlns:a16="http://schemas.microsoft.com/office/drawing/2014/main" id="{EB8349B9-FF10-4946-A3E8-CC5D7908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2457450" cy="31051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C"/>
            </a:solidFill>
            <a:prstDash val="solid"/>
          </a:ln>
        </p:spPr>
      </p:sp>
      <p:sp>
        <p:nvSpPr>
          <p:cNvPr id="6" name="avatar-0">
            <a:extLst xmlns:a="http://schemas.openxmlformats.org/drawingml/2006/main">
              <a:ext uri="{FF2B5EF4-FFF2-40B4-BE49-F238E27FC236}">
                <a16:creationId xmlns:a16="http://schemas.microsoft.com/office/drawing/2014/main" id="{C0C08A86-2B27-42AF-8383-09E81F7D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3840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B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vatar-t-0">
            <a:extLst xmlns:a="http://schemas.openxmlformats.org/drawingml/2006/main">
              <a:ext uri="{FF2B5EF4-FFF2-40B4-BE49-F238E27FC236}">
                <a16:creationId xmlns:a16="http://schemas.microsoft.com/office/drawing/2014/main" id="{3B2B2915-C914-410A-8C4C-45E7904E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31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317"/>
                </a:solidFill>
                <a:latin typeface="Aptos"/>
                <a:ea typeface="Aptos"/>
                <a:cs typeface="Aptos"/>
              </a:rPr>
              <a:t>MM</a:t>
            </a:r>
          </a:p>
        </p:txBody>
      </p:sp>
      <p:sp>
        <p:nvSpPr>
          <p:cNvPr id="8" name="member-name-0">
            <a:extLst xmlns:a="http://schemas.openxmlformats.org/drawingml/2006/main">
              <a:ext uri="{FF2B5EF4-FFF2-40B4-BE49-F238E27FC236}">
                <a16:creationId xmlns:a16="http://schemas.microsoft.com/office/drawing/2014/main" id="{1A86DB23-4B0E-43BA-BB3F-8578B94E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31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317"/>
                </a:solidFill>
                <a:latin typeface="Aptos"/>
                <a:ea typeface="Aptos"/>
                <a:cs typeface="Aptos"/>
              </a:rPr>
              <a:t>Mattias Morales</a:t>
            </a:r>
          </a:p>
        </p:txBody>
      </p:sp>
      <p:sp>
        <p:nvSpPr>
          <p:cNvPr id="9" name="member-role-0">
            <a:extLst xmlns:a="http://schemas.openxmlformats.org/drawingml/2006/main">
              <a:ext uri="{FF2B5EF4-FFF2-40B4-BE49-F238E27FC236}">
                <a16:creationId xmlns:a16="http://schemas.microsoft.com/office/drawing/2014/main" id="{06377367-05B5-4AF9-BFF9-0FE086FC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36D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36D5B"/>
                </a:solidFill>
                <a:latin typeface="Aptos"/>
                <a:ea typeface="Aptos"/>
                <a:cs typeface="Aptos"/>
              </a:rPr>
              <a:t>Producto y research</a:t>
            </a:r>
          </a:p>
        </p:txBody>
      </p:sp>
      <p:sp>
        <p:nvSpPr>
          <p:cNvPr id="10" name="member-fit-0">
            <a:extLst xmlns:a="http://schemas.openxmlformats.org/drawingml/2006/main">
              <a:ext uri="{FF2B5EF4-FFF2-40B4-BE49-F238E27FC236}">
                <a16:creationId xmlns:a16="http://schemas.microsoft.com/office/drawing/2014/main" id="{B6614283-9505-497B-A114-2E5C4756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1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16B"/>
                </a:solidFill>
                <a:latin typeface="Aptos"/>
                <a:ea typeface="Aptos"/>
                <a:cs typeface="Aptos"/>
              </a:rPr>
              <a:t>Mantiene el foco en el episodio y la evidencia.</a:t>
            </a:r>
          </a:p>
        </p:txBody>
      </p:sp>
      <p:sp>
        <p:nvSpPr>
          <p:cNvPr id="11" name="member-1">
            <a:extLst xmlns:a="http://schemas.openxmlformats.org/drawingml/2006/main">
              <a:ext uri="{FF2B5EF4-FFF2-40B4-BE49-F238E27FC236}">
                <a16:creationId xmlns:a16="http://schemas.microsoft.com/office/drawing/2014/main" id="{99FDD68A-0ECA-4BD2-9BC4-6C7D8172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2457450" cy="31051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C"/>
            </a:solidFill>
            <a:prstDash val="solid"/>
          </a:ln>
        </p:spPr>
      </p:sp>
      <p:sp>
        <p:nvSpPr>
          <p:cNvPr id="12" name="avatar-1">
            <a:extLst xmlns:a="http://schemas.openxmlformats.org/drawingml/2006/main">
              <a:ext uri="{FF2B5EF4-FFF2-40B4-BE49-F238E27FC236}">
                <a16:creationId xmlns:a16="http://schemas.microsoft.com/office/drawing/2014/main" id="{6BC966C4-B211-410C-A6E9-C848B229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3840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5A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vatar-t-1">
            <a:extLst xmlns:a="http://schemas.openxmlformats.org/drawingml/2006/main">
              <a:ext uri="{FF2B5EF4-FFF2-40B4-BE49-F238E27FC236}">
                <a16:creationId xmlns:a16="http://schemas.microsoft.com/office/drawing/2014/main" id="{D8C96AC3-2448-46D7-96CC-2F491F4A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289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31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317"/>
                </a:solidFill>
                <a:latin typeface="Aptos"/>
                <a:ea typeface="Aptos"/>
                <a:cs typeface="Aptos"/>
              </a:rPr>
              <a:t>AV</a:t>
            </a:r>
          </a:p>
        </p:txBody>
      </p:sp>
      <p:sp>
        <p:nvSpPr>
          <p:cNvPr id="14" name="member-name-1">
            <a:extLst xmlns:a="http://schemas.openxmlformats.org/drawingml/2006/main">
              <a:ext uri="{FF2B5EF4-FFF2-40B4-BE49-F238E27FC236}">
                <a16:creationId xmlns:a16="http://schemas.microsoft.com/office/drawing/2014/main" id="{084FFA1D-338D-4658-9D77-9E354205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575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31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317"/>
                </a:solidFill>
                <a:latin typeface="Aptos"/>
                <a:ea typeface="Aptos"/>
                <a:cs typeface="Aptos"/>
              </a:rPr>
              <a:t>Ariel Van Kilsdonk</a:t>
            </a:r>
          </a:p>
        </p:txBody>
      </p:sp>
      <p:sp>
        <p:nvSpPr>
          <p:cNvPr id="15" name="member-role-1">
            <a:extLst xmlns:a="http://schemas.openxmlformats.org/drawingml/2006/main">
              <a:ext uri="{FF2B5EF4-FFF2-40B4-BE49-F238E27FC236}">
                <a16:creationId xmlns:a16="http://schemas.microsoft.com/office/drawing/2014/main" id="{0D16CD79-E166-44FA-AFD5-FF1A142F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9433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36D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36D5B"/>
                </a:solidFill>
                <a:latin typeface="Aptos"/>
                <a:ea typeface="Aptos"/>
                <a:cs typeface="Aptos"/>
              </a:rPr>
              <a:t>Discovery y alianzas</a:t>
            </a:r>
          </a:p>
        </p:txBody>
      </p:sp>
      <p:sp>
        <p:nvSpPr>
          <p:cNvPr id="16" name="member-fit-1">
            <a:extLst xmlns:a="http://schemas.openxmlformats.org/drawingml/2006/main">
              <a:ext uri="{FF2B5EF4-FFF2-40B4-BE49-F238E27FC236}">
                <a16:creationId xmlns:a16="http://schemas.microsoft.com/office/drawing/2014/main" id="{6C9EC91A-D1E3-4625-B4DE-8F2629EF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5148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1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16B"/>
                </a:solidFill>
                <a:latin typeface="Aptos"/>
                <a:ea typeface="Aptos"/>
                <a:cs typeface="Aptos"/>
              </a:rPr>
              <a:t>Convierte entrevistas en pilotos accesibles.</a:t>
            </a:r>
          </a:p>
        </p:txBody>
      </p:sp>
      <p:sp>
        <p:nvSpPr>
          <p:cNvPr id="17" name="member-2">
            <a:extLst xmlns:a="http://schemas.openxmlformats.org/drawingml/2006/main">
              <a:ext uri="{FF2B5EF4-FFF2-40B4-BE49-F238E27FC236}">
                <a16:creationId xmlns:a16="http://schemas.microsoft.com/office/drawing/2014/main" id="{FF0C3E0C-5F34-4BBA-875F-97A4B4A8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90750"/>
            <a:ext cx="2457450" cy="31051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C"/>
            </a:solidFill>
            <a:prstDash val="solid"/>
          </a:ln>
        </p:spPr>
      </p:sp>
      <p:sp>
        <p:nvSpPr>
          <p:cNvPr id="18" name="avatar-2">
            <a:extLst xmlns:a="http://schemas.openxmlformats.org/drawingml/2006/main">
              <a:ext uri="{FF2B5EF4-FFF2-40B4-BE49-F238E27FC236}">
                <a16:creationId xmlns:a16="http://schemas.microsoft.com/office/drawing/2014/main" id="{1F702683-76BE-4E75-814A-19B74F83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3840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1A7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vatar-t-2">
            <a:extLst xmlns:a="http://schemas.openxmlformats.org/drawingml/2006/main">
              <a:ext uri="{FF2B5EF4-FFF2-40B4-BE49-F238E27FC236}">
                <a16:creationId xmlns:a16="http://schemas.microsoft.com/office/drawing/2014/main" id="{8690DD55-A3FB-4E1B-A91D-B4FFCB6F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289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31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317"/>
                </a:solidFill>
                <a:latin typeface="Aptos"/>
                <a:ea typeface="Aptos"/>
                <a:cs typeface="Aptos"/>
              </a:rPr>
              <a:t>FP</a:t>
            </a:r>
          </a:p>
        </p:txBody>
      </p:sp>
      <p:sp>
        <p:nvSpPr>
          <p:cNvPr id="20" name="member-name-2">
            <a:extLst xmlns:a="http://schemas.openxmlformats.org/drawingml/2006/main">
              <a:ext uri="{FF2B5EF4-FFF2-40B4-BE49-F238E27FC236}">
                <a16:creationId xmlns:a16="http://schemas.microsoft.com/office/drawing/2014/main" id="{8BC2646E-C025-4FF4-B62B-160D8602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575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31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317"/>
                </a:solidFill>
                <a:latin typeface="Aptos"/>
                <a:ea typeface="Aptos"/>
                <a:cs typeface="Aptos"/>
              </a:rPr>
              <a:t>Francisco Polo</a:t>
            </a:r>
          </a:p>
        </p:txBody>
      </p:sp>
      <p:sp>
        <p:nvSpPr>
          <p:cNvPr id="21" name="member-role-2">
            <a:extLst xmlns:a="http://schemas.openxmlformats.org/drawingml/2006/main">
              <a:ext uri="{FF2B5EF4-FFF2-40B4-BE49-F238E27FC236}">
                <a16:creationId xmlns:a16="http://schemas.microsoft.com/office/drawing/2014/main" id="{06BB6565-02C4-4024-A03F-01E97669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433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36D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36D5B"/>
                </a:solidFill>
                <a:latin typeface="Aptos"/>
                <a:ea typeface="Aptos"/>
                <a:cs typeface="Aptos"/>
              </a:rPr>
              <a:t>Negocio y growth</a:t>
            </a:r>
          </a:p>
        </p:txBody>
      </p:sp>
      <p:sp>
        <p:nvSpPr>
          <p:cNvPr id="22" name="member-fit-2">
            <a:extLst xmlns:a="http://schemas.openxmlformats.org/drawingml/2006/main">
              <a:ext uri="{FF2B5EF4-FFF2-40B4-BE49-F238E27FC236}">
                <a16:creationId xmlns:a16="http://schemas.microsoft.com/office/drawing/2014/main" id="{2BCC2AA0-546E-494B-AE91-FFF1B9BA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148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1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16B"/>
                </a:solidFill>
                <a:latin typeface="Aptos"/>
                <a:ea typeface="Aptos"/>
                <a:cs typeface="Aptos"/>
              </a:rPr>
              <a:t>Valida precio, canal y economía por usuario.</a:t>
            </a:r>
          </a:p>
        </p:txBody>
      </p:sp>
      <p:sp>
        <p:nvSpPr>
          <p:cNvPr id="23" name="member-3">
            <a:extLst xmlns:a="http://schemas.openxmlformats.org/drawingml/2006/main">
              <a:ext uri="{FF2B5EF4-FFF2-40B4-BE49-F238E27FC236}">
                <a16:creationId xmlns:a16="http://schemas.microsoft.com/office/drawing/2014/main" id="{000F4B9A-4CFD-4CD2-A420-B16008C7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90750"/>
            <a:ext cx="2457450" cy="31051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C"/>
            </a:solidFill>
            <a:prstDash val="solid"/>
          </a:ln>
        </p:spPr>
      </p:sp>
      <p:sp>
        <p:nvSpPr>
          <p:cNvPr id="24" name="avatar-3">
            <a:extLst xmlns:a="http://schemas.openxmlformats.org/drawingml/2006/main">
              <a:ext uri="{FF2B5EF4-FFF2-40B4-BE49-F238E27FC236}">
                <a16:creationId xmlns:a16="http://schemas.microsoft.com/office/drawing/2014/main" id="{C3E1D873-AC2D-41E2-9CC4-E44A7E7E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3840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6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avatar-t-3">
            <a:extLst xmlns:a="http://schemas.openxmlformats.org/drawingml/2006/main">
              <a:ext uri="{FF2B5EF4-FFF2-40B4-BE49-F238E27FC236}">
                <a16:creationId xmlns:a16="http://schemas.microsoft.com/office/drawing/2014/main" id="{2245CFE0-B0BA-4CDE-99DA-1AA4AA0E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289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31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317"/>
                </a:solidFill>
                <a:latin typeface="Aptos"/>
                <a:ea typeface="Aptos"/>
                <a:cs typeface="Aptos"/>
              </a:rPr>
              <a:t>CO</a:t>
            </a:r>
          </a:p>
        </p:txBody>
      </p:sp>
      <p:sp>
        <p:nvSpPr>
          <p:cNvPr id="26" name="member-name-3">
            <a:extLst xmlns:a="http://schemas.openxmlformats.org/drawingml/2006/main">
              <a:ext uri="{FF2B5EF4-FFF2-40B4-BE49-F238E27FC236}">
                <a16:creationId xmlns:a16="http://schemas.microsoft.com/office/drawing/2014/main" id="{D9E355DB-E53B-4159-A3A1-DEAE0970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575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31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317"/>
                </a:solidFill>
                <a:latin typeface="Aptos"/>
                <a:ea typeface="Aptos"/>
                <a:cs typeface="Aptos"/>
              </a:rPr>
              <a:t>Carlos Orellana</a:t>
            </a:r>
          </a:p>
        </p:txBody>
      </p:sp>
      <p:sp>
        <p:nvSpPr>
          <p:cNvPr id="27" name="member-role-3">
            <a:extLst xmlns:a="http://schemas.openxmlformats.org/drawingml/2006/main">
              <a:ext uri="{FF2B5EF4-FFF2-40B4-BE49-F238E27FC236}">
                <a16:creationId xmlns:a16="http://schemas.microsoft.com/office/drawing/2014/main" id="{DABE28AE-E443-4090-81BB-07BECEE8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433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36D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36D5B"/>
                </a:solidFill>
                <a:latin typeface="Aptos"/>
                <a:ea typeface="Aptos"/>
                <a:cs typeface="Aptos"/>
              </a:rPr>
              <a:t>Tecnología y experimento</a:t>
            </a:r>
          </a:p>
        </p:txBody>
      </p:sp>
      <p:sp>
        <p:nvSpPr>
          <p:cNvPr id="28" name="member-fit-3">
            <a:extLst xmlns:a="http://schemas.openxmlformats.org/drawingml/2006/main">
              <a:ext uri="{FF2B5EF4-FFF2-40B4-BE49-F238E27FC236}">
                <a16:creationId xmlns:a16="http://schemas.microsoft.com/office/drawing/2014/main" id="{B1A6280D-3713-4DAC-A0A7-E2E15333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148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1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16B"/>
                </a:solidFill>
                <a:latin typeface="Aptos"/>
                <a:ea typeface="Aptos"/>
                <a:cs typeface="Aptos"/>
              </a:rPr>
              <a:t>Convierte hipótesis en flujos medibles.</a:t>
            </a:r>
          </a:p>
        </p:txBody>
      </p:sp>
      <p:sp>
        <p:nvSpPr>
          <p:cNvPr id="29" name="camera-note">
            <a:extLst xmlns:a="http://schemas.openxmlformats.org/drawingml/2006/main">
              <a:ext uri="{FF2B5EF4-FFF2-40B4-BE49-F238E27FC236}">
                <a16:creationId xmlns:a16="http://schemas.microsoft.com/office/drawing/2014/main" id="{5232DB54-15AB-4D3E-AF56-BC85334C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16B"/>
                </a:solidFill>
                <a:latin typeface="Aptos"/>
                <a:ea typeface="Aptos"/>
                <a:cs typeface="Aptos"/>
              </a:rPr>
              <a:t>En esta lámina, cada integrante toma 7 segundos y aparece en cámara.</a:t>
            </a:r>
          </a:p>
        </p:txBody>
      </p:sp>
    </p:spTree>
    <p:extLst>
      <p:ext uri="{BB962C8B-B14F-4D97-AF65-F5344CB8AC3E}">
        <p14:creationId xmlns:p14="http://schemas.microsoft.com/office/powerpoint/2010/main" val="7190483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kicker-9">
            <a:extLst xmlns:a="http://schemas.openxmlformats.org/drawingml/2006/main">
              <a:ext uri="{FF2B5EF4-FFF2-40B4-BE49-F238E27FC236}">
                <a16:creationId xmlns:a16="http://schemas.microsoft.com/office/drawing/2014/main" id="{8EF0FC91-8644-4BAC-A9BC-1AD1F751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36D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6D5B"/>
                </a:solidFill>
                <a:latin typeface="Aptos"/>
                <a:ea typeface="Aptos"/>
                <a:cs typeface="Aptos"/>
              </a:rPr>
              <a:t>ROADMAP · ASK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480F0A94-22EB-4D2D-8346-7F4F571A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839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317"/>
                </a:solidFill>
                <a:latin typeface="Aptos"/>
                <a:ea typeface="Aptos"/>
                <a:cs typeface="Aptos"/>
              </a:rPr>
              <a:t>18 meses para demostrar repetición y pago.</a:t>
            </a:r>
          </a:p>
        </p:txBody>
      </p:sp>
      <p:sp>
        <p:nvSpPr>
          <p:cNvPr id="3" name="num-9">
            <a:extLst xmlns:a="http://schemas.openxmlformats.org/drawingml/2006/main">
              <a:ext uri="{FF2B5EF4-FFF2-40B4-BE49-F238E27FC236}">
                <a16:creationId xmlns:a16="http://schemas.microsoft.com/office/drawing/2014/main" id="{76FE7EB6-80C8-4B18-BDCE-45A49A74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9616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9616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phase-time-0">
            <a:extLst xmlns:a="http://schemas.openxmlformats.org/drawingml/2006/main">
              <a:ext uri="{FF2B5EF4-FFF2-40B4-BE49-F238E27FC236}">
                <a16:creationId xmlns:a16="http://schemas.microsoft.com/office/drawing/2014/main" id="{78AE2F95-10F3-4F1B-BC35-9ACABFE2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049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961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16B"/>
                </a:solidFill>
                <a:latin typeface="Aptos"/>
                <a:ea typeface="Aptos"/>
                <a:cs typeface="Aptos"/>
              </a:rPr>
              <a:t>0–3 m</a:t>
            </a:r>
          </a:p>
        </p:txBody>
      </p:sp>
      <p:sp>
        <p:nvSpPr>
          <p:cNvPr id="5" name="phase-bar-0">
            <a:extLst xmlns:a="http://schemas.openxmlformats.org/drawingml/2006/main">
              <a:ext uri="{FF2B5EF4-FFF2-40B4-BE49-F238E27FC236}">
                <a16:creationId xmlns:a16="http://schemas.microsoft.com/office/drawing/2014/main" id="{DD4BD6F7-180F-491A-9D17-A771BBBD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18097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5A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hase-title-0">
            <a:extLst xmlns:a="http://schemas.openxmlformats.org/drawingml/2006/main">
              <a:ext uri="{FF2B5EF4-FFF2-40B4-BE49-F238E27FC236}">
                <a16:creationId xmlns:a16="http://schemas.microsoft.com/office/drawing/2014/main" id="{05A7FD55-D79D-4FF9-BFD4-32B8394A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098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31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317"/>
                </a:solidFill>
                <a:latin typeface="Aptos"/>
                <a:ea typeface="Aptos"/>
                <a:cs typeface="Aptos"/>
              </a:rPr>
              <a:t>Producto</a:t>
            </a:r>
          </a:p>
        </p:txBody>
      </p:sp>
      <p:sp>
        <p:nvSpPr>
          <p:cNvPr id="7" name="phase-out-0">
            <a:extLst xmlns:a="http://schemas.openxmlformats.org/drawingml/2006/main">
              <a:ext uri="{FF2B5EF4-FFF2-40B4-BE49-F238E27FC236}">
                <a16:creationId xmlns:a16="http://schemas.microsoft.com/office/drawing/2014/main" id="{D7A8EB73-4CC2-43C7-B985-2B03AFF6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289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16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616B"/>
                </a:solidFill>
                <a:latin typeface="Aptos"/>
                <a:ea typeface="Aptos"/>
                <a:cs typeface="Aptos"/>
              </a:rPr>
              <a:t>v0.3 + piloto de 30</a:t>
            </a:r>
          </a:p>
        </p:txBody>
      </p:sp>
      <p:sp>
        <p:nvSpPr>
          <p:cNvPr id="8" name="phase-time-1">
            <a:extLst xmlns:a="http://schemas.openxmlformats.org/drawingml/2006/main">
              <a:ext uri="{FF2B5EF4-FFF2-40B4-BE49-F238E27FC236}">
                <a16:creationId xmlns:a16="http://schemas.microsoft.com/office/drawing/2014/main" id="{03F8EE25-EC63-4D61-8021-3AD4DD9A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5049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961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16B"/>
                </a:solidFill>
                <a:latin typeface="Aptos"/>
                <a:ea typeface="Aptos"/>
                <a:cs typeface="Aptos"/>
              </a:rPr>
              <a:t>4–6 m</a:t>
            </a:r>
          </a:p>
        </p:txBody>
      </p:sp>
      <p:sp>
        <p:nvSpPr>
          <p:cNvPr id="9" name="phase-bar-1">
            <a:extLst xmlns:a="http://schemas.openxmlformats.org/drawingml/2006/main">
              <a:ext uri="{FF2B5EF4-FFF2-40B4-BE49-F238E27FC236}">
                <a16:creationId xmlns:a16="http://schemas.microsoft.com/office/drawing/2014/main" id="{FE4F8E26-2ED3-46AD-8AA5-3B03E30A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847850"/>
            <a:ext cx="18097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1A7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hase-title-1">
            <a:extLst xmlns:a="http://schemas.openxmlformats.org/drawingml/2006/main">
              <a:ext uri="{FF2B5EF4-FFF2-40B4-BE49-F238E27FC236}">
                <a16:creationId xmlns:a16="http://schemas.microsoft.com/office/drawing/2014/main" id="{A4E6AD54-C0A2-4AA5-9F64-00234A70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31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317"/>
                </a:solidFill>
                <a:latin typeface="Aptos"/>
                <a:ea typeface="Aptos"/>
                <a:cs typeface="Aptos"/>
              </a:rPr>
              <a:t>Integración</a:t>
            </a:r>
          </a:p>
        </p:txBody>
      </p:sp>
      <p:sp>
        <p:nvSpPr>
          <p:cNvPr id="11" name="phase-out-1">
            <a:extLst xmlns:a="http://schemas.openxmlformats.org/drawingml/2006/main">
              <a:ext uri="{FF2B5EF4-FFF2-40B4-BE49-F238E27FC236}">
                <a16:creationId xmlns:a16="http://schemas.microsoft.com/office/drawing/2014/main" id="{66C5B9EA-BB7B-4DB8-9AE8-0C735BE4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289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16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616B"/>
                </a:solidFill>
                <a:latin typeface="Aptos"/>
                <a:ea typeface="Aptos"/>
                <a:cs typeface="Aptos"/>
              </a:rPr>
              <a:t>Calendar + 100 MAU</a:t>
            </a:r>
          </a:p>
        </p:txBody>
      </p:sp>
      <p:sp>
        <p:nvSpPr>
          <p:cNvPr id="12" name="phase-time-2">
            <a:extLst xmlns:a="http://schemas.openxmlformats.org/drawingml/2006/main">
              <a:ext uri="{FF2B5EF4-FFF2-40B4-BE49-F238E27FC236}">
                <a16:creationId xmlns:a16="http://schemas.microsoft.com/office/drawing/2014/main" id="{D5736507-2C1D-4F66-8231-BD632B8F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5049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961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16B"/>
                </a:solidFill>
                <a:latin typeface="Aptos"/>
                <a:ea typeface="Aptos"/>
                <a:cs typeface="Aptos"/>
              </a:rPr>
              <a:t>7–12 m</a:t>
            </a:r>
          </a:p>
        </p:txBody>
      </p:sp>
      <p:sp>
        <p:nvSpPr>
          <p:cNvPr id="13" name="phase-bar-2">
            <a:extLst xmlns:a="http://schemas.openxmlformats.org/drawingml/2006/main">
              <a:ext uri="{FF2B5EF4-FFF2-40B4-BE49-F238E27FC236}">
                <a16:creationId xmlns:a16="http://schemas.microsoft.com/office/drawing/2014/main" id="{F159A550-1930-42AC-95C5-DAECD771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47850"/>
            <a:ext cx="18097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B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hase-title-2">
            <a:extLst xmlns:a="http://schemas.openxmlformats.org/drawingml/2006/main">
              <a:ext uri="{FF2B5EF4-FFF2-40B4-BE49-F238E27FC236}">
                <a16:creationId xmlns:a16="http://schemas.microsoft.com/office/drawing/2014/main" id="{7528B718-75D4-4233-B06C-BECF85A5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098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31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317"/>
                </a:solidFill>
                <a:latin typeface="Aptos"/>
                <a:ea typeface="Aptos"/>
                <a:cs typeface="Aptos"/>
              </a:rPr>
              <a:t>Pago</a:t>
            </a:r>
          </a:p>
        </p:txBody>
      </p:sp>
      <p:sp>
        <p:nvSpPr>
          <p:cNvPr id="15" name="phase-out-2">
            <a:extLst xmlns:a="http://schemas.openxmlformats.org/drawingml/2006/main">
              <a:ext uri="{FF2B5EF4-FFF2-40B4-BE49-F238E27FC236}">
                <a16:creationId xmlns:a16="http://schemas.microsoft.com/office/drawing/2014/main" id="{64510D91-630A-49D4-A908-209EE98E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289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16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616B"/>
                </a:solidFill>
                <a:latin typeface="Aptos"/>
                <a:ea typeface="Aptos"/>
                <a:cs typeface="Aptos"/>
              </a:rPr>
              <a:t>100 pagos + 2 IES</a:t>
            </a:r>
          </a:p>
        </p:txBody>
      </p:sp>
      <p:sp>
        <p:nvSpPr>
          <p:cNvPr id="16" name="phase-time-3">
            <a:extLst xmlns:a="http://schemas.openxmlformats.org/drawingml/2006/main">
              <a:ext uri="{FF2B5EF4-FFF2-40B4-BE49-F238E27FC236}">
                <a16:creationId xmlns:a16="http://schemas.microsoft.com/office/drawing/2014/main" id="{BDA81ADF-F5E3-4626-B90D-3D875316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5049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961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16B"/>
                </a:solidFill>
                <a:latin typeface="Aptos"/>
                <a:ea typeface="Aptos"/>
                <a:cs typeface="Aptos"/>
              </a:rPr>
              <a:t>13–18 m</a:t>
            </a:r>
          </a:p>
        </p:txBody>
      </p:sp>
      <p:sp>
        <p:nvSpPr>
          <p:cNvPr id="17" name="phase-bar-3">
            <a:extLst xmlns:a="http://schemas.openxmlformats.org/drawingml/2006/main">
              <a:ext uri="{FF2B5EF4-FFF2-40B4-BE49-F238E27FC236}">
                <a16:creationId xmlns:a16="http://schemas.microsoft.com/office/drawing/2014/main" id="{4DF33E66-2F28-4F6B-B7C0-65127A8C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47850"/>
            <a:ext cx="18097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6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hase-title-3">
            <a:extLst xmlns:a="http://schemas.openxmlformats.org/drawingml/2006/main">
              <a:ext uri="{FF2B5EF4-FFF2-40B4-BE49-F238E27FC236}">
                <a16:creationId xmlns:a16="http://schemas.microsoft.com/office/drawing/2014/main" id="{3C88565E-1BEB-4C72-8C7E-4E0DEA3D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098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31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317"/>
                </a:solidFill>
                <a:latin typeface="Aptos"/>
                <a:ea typeface="Aptos"/>
                <a:cs typeface="Aptos"/>
              </a:rPr>
              <a:t>Escala</a:t>
            </a:r>
          </a:p>
        </p:txBody>
      </p:sp>
      <p:sp>
        <p:nvSpPr>
          <p:cNvPr id="19" name="phase-out-3">
            <a:extLst xmlns:a="http://schemas.openxmlformats.org/drawingml/2006/main">
              <a:ext uri="{FF2B5EF4-FFF2-40B4-BE49-F238E27FC236}">
                <a16:creationId xmlns:a16="http://schemas.microsoft.com/office/drawing/2014/main" id="{6015A0B2-6A8B-4176-B41B-2AB469E0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289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16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616B"/>
                </a:solidFill>
                <a:latin typeface="Aptos"/>
                <a:ea typeface="Aptos"/>
                <a:cs typeface="Aptos"/>
              </a:rPr>
              <a:t>1.000 MAU + 30% R8</a:t>
            </a:r>
          </a:p>
        </p:txBody>
      </p:sp>
      <p:sp>
        <p:nvSpPr>
          <p:cNvPr id="20" name="roadmap-rule">
            <a:extLst xmlns:a="http://schemas.openxmlformats.org/drawingml/2006/main">
              <a:ext uri="{FF2B5EF4-FFF2-40B4-BE49-F238E27FC236}">
                <a16:creationId xmlns:a16="http://schemas.microsoft.com/office/drawing/2014/main" id="{43AFF142-3A65-4716-AD60-2C15D08A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71850"/>
            <a:ext cx="8153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BC6BC"/>
            </a:solidFill>
            <a:prstDash val="solid"/>
          </a:ln>
        </p:spPr>
      </p:sp>
      <p:sp>
        <p:nvSpPr>
          <p:cNvPr id="21" name="unlock-title">
            <a:extLst xmlns:a="http://schemas.openxmlformats.org/drawingml/2006/main">
              <a:ext uri="{FF2B5EF4-FFF2-40B4-BE49-F238E27FC236}">
                <a16:creationId xmlns:a16="http://schemas.microsoft.com/office/drawing/2014/main" id="{8D69DDF7-69A7-4009-8F65-2CBBCA4E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052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36D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36D5B"/>
                </a:solidFill>
                <a:latin typeface="Aptos"/>
                <a:ea typeface="Aptos"/>
                <a:cs typeface="Aptos"/>
              </a:rPr>
              <a:t>Hito que desbloquea la siguiente ronda</a:t>
            </a:r>
          </a:p>
        </p:txBody>
      </p:sp>
      <p:sp>
        <p:nvSpPr>
          <p:cNvPr id="22" name="unlock">
            <a:extLst xmlns:a="http://schemas.openxmlformats.org/drawingml/2006/main">
              <a:ext uri="{FF2B5EF4-FFF2-40B4-BE49-F238E27FC236}">
                <a16:creationId xmlns:a16="http://schemas.microsoft.com/office/drawing/2014/main" id="{B77C87E7-59F5-4E05-9C2D-D85AC94A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0"/>
            <a:ext cx="784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56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317"/>
                </a:solidFill>
                <a:latin typeface="Aptos"/>
                <a:ea typeface="Aptos"/>
                <a:cs typeface="Aptos"/>
              </a:rPr>
              <a:t>30% de retención en semana 8 · 100 usuarios pagados · 2 pilotos institucionales</a:t>
            </a:r>
          </a:p>
        </p:txBody>
      </p:sp>
      <p:sp>
        <p:nvSpPr>
          <p:cNvPr id="23" name="ask-panel">
            <a:extLst xmlns:a="http://schemas.openxmlformats.org/drawingml/2006/main">
              <a:ext uri="{FF2B5EF4-FFF2-40B4-BE49-F238E27FC236}">
                <a16:creationId xmlns:a16="http://schemas.microsoft.com/office/drawing/2014/main" id="{063ECED7-CBCB-4215-9D4A-8A93283C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352550"/>
            <a:ext cx="2838450" cy="4514850"/>
          </a:xfrm>
          <a:prstGeom xmlns:a="http://schemas.openxmlformats.org/drawingml/2006/main" prst="roundRect">
            <a:avLst>
              <a:gd name="adj" fmla="val 2013"/>
            </a:avLst>
          </a:prstGeom>
          <a:solidFill xmlns:a="http://schemas.openxmlformats.org/drawingml/2006/main">
            <a:srgbClr val="111317"/>
          </a:solidFill>
          <a:ln xmlns:a="http://schemas.openxmlformats.org/drawingml/2006/main" w="9525">
            <a:solidFill>
              <a:srgbClr val="111317"/>
            </a:solidFill>
            <a:prstDash val="solid"/>
          </a:ln>
        </p:spPr>
      </p:sp>
      <p:sp>
        <p:nvSpPr>
          <p:cNvPr id="24" name="ask-label">
            <a:extLst xmlns:a="http://schemas.openxmlformats.org/drawingml/2006/main">
              <a:ext uri="{FF2B5EF4-FFF2-40B4-BE49-F238E27FC236}">
                <a16:creationId xmlns:a16="http://schemas.microsoft.com/office/drawing/2014/main" id="{51795D2F-C734-49FA-BA64-8BE37C92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764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7B8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7B85B"/>
                </a:solidFill>
                <a:latin typeface="Aptos"/>
                <a:ea typeface="Aptos"/>
                <a:cs typeface="Aptos"/>
              </a:rPr>
              <a:t>ASK</a:t>
            </a:r>
          </a:p>
        </p:txBody>
      </p:sp>
      <p:sp>
        <p:nvSpPr>
          <p:cNvPr id="25" name="ask-value">
            <a:extLst xmlns:a="http://schemas.openxmlformats.org/drawingml/2006/main">
              <a:ext uri="{FF2B5EF4-FFF2-40B4-BE49-F238E27FC236}">
                <a16:creationId xmlns:a16="http://schemas.microsoft.com/office/drawing/2014/main" id="{93D2D3EB-2759-463A-B904-2E7087AD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3835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$25 MM</a:t>
            </a:r>
          </a:p>
        </p:txBody>
      </p:sp>
      <p:sp>
        <p:nvSpPr>
          <p:cNvPr id="26" name="ask-term">
            <a:extLst xmlns:a="http://schemas.openxmlformats.org/drawingml/2006/main">
              <a:ext uri="{FF2B5EF4-FFF2-40B4-BE49-F238E27FC236}">
                <a16:creationId xmlns:a16="http://schemas.microsoft.com/office/drawing/2014/main" id="{3FD287E9-9974-4438-8AA9-E6AED7DC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38425"/>
            <a:ext cx="209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AFB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AFB9"/>
                </a:solidFill>
                <a:latin typeface="Aptos"/>
                <a:ea typeface="Aptos"/>
                <a:cs typeface="Aptos"/>
              </a:rPr>
              <a:t>CLP · 18 meses</a:t>
            </a:r>
          </a:p>
        </p:txBody>
      </p:sp>
      <p:sp>
        <p:nvSpPr>
          <p:cNvPr id="27" name="use-dot-0">
            <a:extLst xmlns:a="http://schemas.openxmlformats.org/drawingml/2006/main">
              <a:ext uri="{FF2B5EF4-FFF2-40B4-BE49-F238E27FC236}">
                <a16:creationId xmlns:a16="http://schemas.microsoft.com/office/drawing/2014/main" id="{20C30026-B9A9-45C3-927F-3202A2F5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2099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5A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use-pct-0">
            <a:extLst xmlns:a="http://schemas.openxmlformats.org/drawingml/2006/main">
              <a:ext uri="{FF2B5EF4-FFF2-40B4-BE49-F238E27FC236}">
                <a16:creationId xmlns:a16="http://schemas.microsoft.com/office/drawing/2014/main" id="{89C6EA18-E408-4ACD-ABCA-E74C5B68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1813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45%</a:t>
            </a:r>
          </a:p>
        </p:txBody>
      </p:sp>
      <p:sp>
        <p:nvSpPr>
          <p:cNvPr id="29" name="use-label-0">
            <a:extLst xmlns:a="http://schemas.openxmlformats.org/drawingml/2006/main">
              <a:ext uri="{FF2B5EF4-FFF2-40B4-BE49-F238E27FC236}">
                <a16:creationId xmlns:a16="http://schemas.microsoft.com/office/drawing/2014/main" id="{34709816-F9FA-4501-A4B2-9D8BD15C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1813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AFB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AFB9"/>
                </a:solidFill>
                <a:latin typeface="Aptos"/>
                <a:ea typeface="Aptos"/>
                <a:cs typeface="Aptos"/>
              </a:rPr>
              <a:t>Producto e integración</a:t>
            </a:r>
          </a:p>
        </p:txBody>
      </p:sp>
      <p:sp>
        <p:nvSpPr>
          <p:cNvPr id="30" name="use-dot-1">
            <a:extLst xmlns:a="http://schemas.openxmlformats.org/drawingml/2006/main">
              <a:ext uri="{FF2B5EF4-FFF2-40B4-BE49-F238E27FC236}">
                <a16:creationId xmlns:a16="http://schemas.microsoft.com/office/drawing/2014/main" id="{E2E738B1-4580-4CFA-86F6-5A476BEF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733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1A7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use-pct-1">
            <a:extLst xmlns:a="http://schemas.openxmlformats.org/drawingml/2006/main">
              <a:ext uri="{FF2B5EF4-FFF2-40B4-BE49-F238E27FC236}">
                <a16:creationId xmlns:a16="http://schemas.microsoft.com/office/drawing/2014/main" id="{B92870B4-F317-4EC9-804B-72759D15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705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30%</a:t>
            </a:r>
          </a:p>
        </p:txBody>
      </p:sp>
      <p:sp>
        <p:nvSpPr>
          <p:cNvPr id="32" name="use-label-1">
            <a:extLst xmlns:a="http://schemas.openxmlformats.org/drawingml/2006/main">
              <a:ext uri="{FF2B5EF4-FFF2-40B4-BE49-F238E27FC236}">
                <a16:creationId xmlns:a16="http://schemas.microsoft.com/office/drawing/2014/main" id="{C9F9C35D-15FA-49B1-900F-3868707B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7052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AFB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AFB9"/>
                </a:solidFill>
                <a:latin typeface="Aptos"/>
                <a:ea typeface="Aptos"/>
                <a:cs typeface="Aptos"/>
              </a:rPr>
              <a:t>Pilotos y research</a:t>
            </a:r>
          </a:p>
        </p:txBody>
      </p:sp>
      <p:sp>
        <p:nvSpPr>
          <p:cNvPr id="33" name="use-dot-2">
            <a:extLst xmlns:a="http://schemas.openxmlformats.org/drawingml/2006/main">
              <a:ext uri="{FF2B5EF4-FFF2-40B4-BE49-F238E27FC236}">
                <a16:creationId xmlns:a16="http://schemas.microsoft.com/office/drawing/2014/main" id="{E44B3208-BB43-4568-9A57-F602DF60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2576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B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use-pct-2">
            <a:extLst xmlns:a="http://schemas.openxmlformats.org/drawingml/2006/main">
              <a:ext uri="{FF2B5EF4-FFF2-40B4-BE49-F238E27FC236}">
                <a16:creationId xmlns:a16="http://schemas.microsoft.com/office/drawing/2014/main" id="{1C13BAB9-8FD4-4D6A-9AC1-E1BD1C05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229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35" name="use-label-2">
            <a:extLst xmlns:a="http://schemas.openxmlformats.org/drawingml/2006/main">
              <a:ext uri="{FF2B5EF4-FFF2-40B4-BE49-F238E27FC236}">
                <a16:creationId xmlns:a16="http://schemas.microsoft.com/office/drawing/2014/main" id="{794B924E-B506-4CEE-B26B-C575CADC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2291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AFB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AFB9"/>
                </a:solidFill>
                <a:latin typeface="Aptos"/>
                <a:ea typeface="Aptos"/>
                <a:cs typeface="Aptos"/>
              </a:rPr>
              <a:t>Cloud, datos y seguridad</a:t>
            </a:r>
          </a:p>
        </p:txBody>
      </p:sp>
      <p:sp>
        <p:nvSpPr>
          <p:cNvPr id="36" name="use-dot-3">
            <a:extLst xmlns:a="http://schemas.openxmlformats.org/drawingml/2006/main">
              <a:ext uri="{FF2B5EF4-FFF2-40B4-BE49-F238E27FC236}">
                <a16:creationId xmlns:a16="http://schemas.microsoft.com/office/drawing/2014/main" id="{CB437861-DE35-4583-8162-54AFC96B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7815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6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use-pct-3">
            <a:extLst xmlns:a="http://schemas.openxmlformats.org/drawingml/2006/main">
              <a:ext uri="{FF2B5EF4-FFF2-40B4-BE49-F238E27FC236}">
                <a16:creationId xmlns:a16="http://schemas.microsoft.com/office/drawing/2014/main" id="{CF545C8F-1CD1-44F5-A3BC-FBA05089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7529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38" name="use-label-3">
            <a:extLst xmlns:a="http://schemas.openxmlformats.org/drawingml/2006/main">
              <a:ext uri="{FF2B5EF4-FFF2-40B4-BE49-F238E27FC236}">
                <a16:creationId xmlns:a16="http://schemas.microsoft.com/office/drawing/2014/main" id="{680FAB82-DE0A-4ACE-94FA-81465939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7529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AFB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AFB9"/>
                </a:solidFill>
                <a:latin typeface="Aptos"/>
                <a:ea typeface="Aptos"/>
                <a:cs typeface="Aptos"/>
              </a:rPr>
              <a:t>Legal y operación</a:t>
            </a:r>
          </a:p>
        </p:txBody>
      </p:sp>
      <p:sp>
        <p:nvSpPr>
          <p:cNvPr id="39" name="ask-partner">
            <a:extLst xmlns:a="http://schemas.openxmlformats.org/drawingml/2006/main">
              <a:ext uri="{FF2B5EF4-FFF2-40B4-BE49-F238E27FC236}">
                <a16:creationId xmlns:a16="http://schemas.microsoft.com/office/drawing/2014/main" id="{F51D8033-8066-4569-AEB5-2B620A89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3149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1A77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1A77B"/>
                </a:solidFill>
                <a:latin typeface="Aptos"/>
                <a:ea typeface="Aptos"/>
                <a:cs typeface="Aptos"/>
              </a:rPr>
              <a:t>Además: 2 instituciones para pilotos de 100 estudiantes.</a:t>
            </a:r>
          </a:p>
        </p:txBody>
      </p:sp>
    </p:spTree>
    <p:extLst>
      <p:ext uri="{BB962C8B-B14F-4D97-AF65-F5344CB8AC3E}">
        <p14:creationId xmlns:p14="http://schemas.microsoft.com/office/powerpoint/2010/main" val="8900025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1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lose-brand">
            <a:extLst xmlns:a="http://schemas.openxmlformats.org/drawingml/2006/main">
              <a:ext uri="{FF2B5EF4-FFF2-40B4-BE49-F238E27FC236}">
                <a16:creationId xmlns:a16="http://schemas.microsoft.com/office/drawing/2014/main" id="{B458BCC6-16CA-4BE6-A0F9-B1D43941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7B8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7B85B"/>
                </a:solidFill>
                <a:latin typeface="Aptos"/>
                <a:ea typeface="Aptos"/>
                <a:cs typeface="Aptos"/>
              </a:rPr>
              <a:t>RITMO</a:t>
            </a:r>
          </a:p>
        </p:txBody>
      </p:sp>
      <p:sp>
        <p:nvSpPr>
          <p:cNvPr id="2" name="close-hook">
            <a:extLst xmlns:a="http://schemas.openxmlformats.org/drawingml/2006/main">
              <a:ext uri="{FF2B5EF4-FFF2-40B4-BE49-F238E27FC236}">
                <a16:creationId xmlns:a16="http://schemas.microsoft.com/office/drawing/2014/main" id="{1F9FC470-73F0-4E75-8845-A37DFAB7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75438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Que cambie el turno,</a:t>
            </a:r>
          </a:p>
          <a:p xmlns:a="http://schemas.openxmlformats.org/drawingml/2006/main">
            <a:pPr algn="l">
              <a:defRPr sz="4650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no el futuro.</a:t>
            </a:r>
          </a:p>
        </p:txBody>
      </p:sp>
      <p:sp>
        <p:nvSpPr>
          <p:cNvPr id="3" name="close-ask">
            <a:extLst xmlns:a="http://schemas.openxmlformats.org/drawingml/2006/main">
              <a:ext uri="{FF2B5EF4-FFF2-40B4-BE49-F238E27FC236}">
                <a16:creationId xmlns:a16="http://schemas.microsoft.com/office/drawing/2014/main" id="{1A4A4DC4-F250-45A5-86CE-DDD61933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38525"/>
            <a:ext cx="7391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8AFB9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A8AFB9"/>
                </a:solidFill>
                <a:latin typeface="Aptos"/>
                <a:ea typeface="Aptos"/>
                <a:cs typeface="Aptos"/>
              </a:rPr>
              <a:t>Agendemos 30 minutos la próxima semana para abrir un piloto de 100 estudiantes.</a:t>
            </a:r>
          </a:p>
        </p:txBody>
      </p:sp>
      <p:sp>
        <p:nvSpPr>
          <p:cNvPr id="4" name="close-cta">
            <a:extLst xmlns:a="http://schemas.openxmlformats.org/drawingml/2006/main">
              <a:ext uri="{FF2B5EF4-FFF2-40B4-BE49-F238E27FC236}">
                <a16:creationId xmlns:a16="http://schemas.microsoft.com/office/drawing/2014/main" id="{822D40E4-03B2-40D6-8269-C8127138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62500"/>
            <a:ext cx="4838700" cy="62865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E7B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ose-cta-text">
            <a:extLst xmlns:a="http://schemas.openxmlformats.org/drawingml/2006/main">
              <a:ext uri="{FF2B5EF4-FFF2-40B4-BE49-F238E27FC236}">
                <a16:creationId xmlns:a16="http://schemas.microsoft.com/office/drawing/2014/main" id="{297B4C7E-0A50-4599-918F-39860340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81575"/>
            <a:ext cx="443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41B0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1B08"/>
                </a:solidFill>
                <a:latin typeface="Aptos"/>
                <a:ea typeface="Aptos"/>
                <a:cs typeface="Aptos"/>
              </a:rPr>
              <a:t>PILOTO · 100 ESTUDIANTES · 8 SEMANAS</a:t>
            </a:r>
          </a:p>
        </p:txBody>
      </p:sp>
      <p:sp>
        <p:nvSpPr>
          <p:cNvPr id="6" name="close-mark">
            <a:extLst xmlns:a="http://schemas.openxmlformats.org/drawingml/2006/main">
              <a:ext uri="{FF2B5EF4-FFF2-40B4-BE49-F238E27FC236}">
                <a16:creationId xmlns:a16="http://schemas.microsoft.com/office/drawing/2014/main" id="{6268A211-4137-4EAD-81AB-44837601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581150"/>
            <a:ext cx="1390650" cy="13906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7B85B"/>
            </a:solidFill>
            <a:prstDash val="solid"/>
          </a:ln>
        </p:spPr>
      </p:sp>
      <p:sp>
        <p:nvSpPr>
          <p:cNvPr id="7" name="close-r">
            <a:extLst xmlns:a="http://schemas.openxmlformats.org/drawingml/2006/main">
              <a:ext uri="{FF2B5EF4-FFF2-40B4-BE49-F238E27FC236}">
                <a16:creationId xmlns:a16="http://schemas.microsoft.com/office/drawing/2014/main" id="{74117330-3B51-422B-A75D-AE2FC5C1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809750"/>
            <a:ext cx="66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500" b="1">
                <a:solidFill>
                  <a:srgbClr val="E7B85B"/>
                </a:solidFill>
                <a:latin typeface="Aptos"/>
                <a:ea typeface="Aptos"/>
                <a:cs typeface="Aptos"/>
              </a:defRPr>
            </a:pPr>
            <a:r>
              <a:rPr sz="4500" b="1">
                <a:solidFill>
                  <a:srgbClr val="E7B85B"/>
                </a:solidFill>
                <a:latin typeface="Aptos"/>
                <a:ea typeface="Aptos"/>
                <a:cs typeface="Aptos"/>
              </a:rPr>
              <a:t>R</a:t>
            </a:r>
          </a:p>
        </p:txBody>
      </p:sp>
      <p:sp>
        <p:nvSpPr>
          <p:cNvPr id="8" name="close-team">
            <a:extLst xmlns:a="http://schemas.openxmlformats.org/drawingml/2006/main">
              <a:ext uri="{FF2B5EF4-FFF2-40B4-BE49-F238E27FC236}">
                <a16:creationId xmlns:a16="http://schemas.microsoft.com/office/drawing/2014/main" id="{321EEBF6-B9E1-45EF-87EC-B3C1669D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5312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4F1EA"/>
                </a:solidFill>
                <a:latin typeface="Aptos"/>
                <a:ea typeface="Aptos"/>
                <a:cs typeface="Aptos"/>
              </a:rPr>
              <a:t>Mattias · Ariel · Francisco · Carlos</a:t>
            </a:r>
          </a:p>
        </p:txBody>
      </p:sp>
    </p:spTree>
    <p:extLst>
      <p:ext uri="{BB962C8B-B14F-4D97-AF65-F5344CB8AC3E}">
        <p14:creationId xmlns:p14="http://schemas.microsoft.com/office/powerpoint/2010/main" val="12661119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2026-08-20T00:34:33.6490000Z</dcterms:created>
  <dcterms:modified xsi:type="dcterms:W3CDTF">2026-08-20T00:34:33.6490000Z</dcterms:modified>
</coreProperties>
</file>